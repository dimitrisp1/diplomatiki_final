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2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Μηνύματα</c:v>
          </c:tx>
          <c:spPr>
            <a:solidFill>
              <a:srgbClr val="167D8D"/>
            </a:solidFill>
          </c:spPr>
          <c:invertIfNegative val="1"/>
          <c:dPt>
            <c:idx val="5"/>
            <c:invertIfNegative val="0"/>
            <c:bubble3D val="0"/>
            <c:spPr>
              <a:solidFill>
                <a:srgbClr val="ADC7CF"/>
              </a:solidFill>
            </c:spPr>
            <c:extLst>
              <c:ext xmlns:c16="http://schemas.microsoft.com/office/drawing/2014/chart" uri="{C3380CC4-5D6E-409C-BE32-E72D297353CC}">
                <c16:uniqueId val="{00000001-9124-4B70-82A2-7639C6CA782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2023*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2248</c:v>
                </c:pt>
                <c:pt idx="1">
                  <c:v>2625</c:v>
                </c:pt>
                <c:pt idx="2">
                  <c:v>2437</c:v>
                </c:pt>
                <c:pt idx="3">
                  <c:v>2440</c:v>
                </c:pt>
                <c:pt idx="4">
                  <c:v>2545</c:v>
                </c:pt>
                <c:pt idx="5">
                  <c:v>1342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124-4B70-82A2-7639C6CA78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CE4E8"/>
            </a:solidFill>
          </a:ln>
        </c:spPr>
        <c:txPr>
          <a:bodyPr anchorCtr="1"/>
          <a:lstStyle/>
          <a:p>
            <a:pPr>
              <a:defRPr sz="1275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CE4E8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Μηνύματα</c:v>
          </c:tx>
          <c:spPr>
            <a:solidFill>
              <a:srgbClr val="167D8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Infrastructure &amp; Digital Services</c:v>
                </c:pt>
                <c:pt idx="1">
                  <c:v>Health &amp; Welfare</c:v>
                </c:pt>
                <c:pt idx="2">
                  <c:v>Elections &amp; Governance</c:v>
                </c:pt>
                <c:pt idx="3">
                  <c:v>Research &amp; Funding</c:v>
                </c:pt>
                <c:pt idx="4">
                  <c:v>Labour &amp; Union Affairs</c:v>
                </c:pt>
                <c:pt idx="5">
                  <c:v>Campus Life</c:v>
                </c:pt>
                <c:pt idx="6">
                  <c:v>University Administration</c:v>
                </c:pt>
                <c:pt idx="7">
                  <c:v>Academic Events</c:v>
                </c:pt>
              </c:strCache>
            </c:strRef>
          </c:cat>
          <c:val>
            <c:numRef>
              <c:f>'Chart Data'!$B$2:$B$9</c:f>
              <c:numCache>
                <c:formatCode>#,##0</c:formatCode>
                <c:ptCount val="8"/>
                <c:pt idx="0">
                  <c:v>462</c:v>
                </c:pt>
                <c:pt idx="1">
                  <c:v>684</c:v>
                </c:pt>
                <c:pt idx="2">
                  <c:v>717</c:v>
                </c:pt>
                <c:pt idx="3">
                  <c:v>871</c:v>
                </c:pt>
                <c:pt idx="4">
                  <c:v>1047</c:v>
                </c:pt>
                <c:pt idx="5">
                  <c:v>1296</c:v>
                </c:pt>
                <c:pt idx="6">
                  <c:v>1336</c:v>
                </c:pt>
                <c:pt idx="7">
                  <c:v>3596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055-4C49-9710-D79DD478433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CE4E8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6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Σημασιολογική συνοχή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Σημασιολογική συνοχή</c:v>
          </c:tx>
          <c:spPr>
            <a:solidFill>
              <a:srgbClr val="167D8D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30-48AD-8B10-82A78F436E79}"/>
              </c:ext>
            </c:extLst>
          </c:dPt>
          <c:dPt>
            <c:idx val="1"/>
            <c:invertIfNegative val="0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3-2430-48AD-8B10-82A78F436E79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</c:spPr>
            <c:extLst>
              <c:ext xmlns:c16="http://schemas.microsoft.com/office/drawing/2014/chart" uri="{C3380CC4-5D6E-409C-BE32-E72D297353CC}">
                <c16:uniqueId val="{00000005-2430-48AD-8B10-82A78F436E79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HDBSCAN</c:v>
                </c:pt>
                <c:pt idx="1">
                  <c:v>k-means</c:v>
                </c:pt>
                <c:pt idx="2">
                  <c:v>Ward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0.81110000000000004</c:v>
                </c:pt>
                <c:pt idx="1">
                  <c:v>0.79990000000000006</c:v>
                </c:pt>
                <c:pt idx="2">
                  <c:v>0.80049999999999999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2430-48AD-8B10-82A78F436E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CE5EA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6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NPMI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NPMI</c:v>
          </c:tx>
          <c:spPr>
            <a:solidFill>
              <a:srgbClr val="167D8D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C0-4E0F-8FC8-D2B379F6FC25}"/>
              </c:ext>
            </c:extLst>
          </c:dPt>
          <c:dPt>
            <c:idx val="1"/>
            <c:invertIfNegative val="0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3-6AC0-4E0F-8FC8-D2B379F6FC25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</c:spPr>
            <c:extLst>
              <c:ext xmlns:c16="http://schemas.microsoft.com/office/drawing/2014/chart" uri="{C3380CC4-5D6E-409C-BE32-E72D297353CC}">
                <c16:uniqueId val="{00000005-6AC0-4E0F-8FC8-D2B379F6FC25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HDBSCAN</c:v>
                </c:pt>
                <c:pt idx="1">
                  <c:v>k-means</c:v>
                </c:pt>
                <c:pt idx="2">
                  <c:v>Ward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0.20669999999999999</c:v>
                </c:pt>
                <c:pt idx="1">
                  <c:v>0.18920000000000001</c:v>
                </c:pt>
                <c:pt idx="2">
                  <c:v>0.19450000000000001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6AC0-4E0F-8FC8-D2B379F6FC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w="9525">
              <a:solidFill>
                <a:srgbClr val="DCE5EA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COVID-19</c:v>
          </c:tx>
          <c:spPr>
            <a:ln w="28575">
              <a:solidFill>
                <a:srgbClr val="C5443B"/>
              </a:solidFill>
            </a:ln>
          </c:spPr>
          <c:marker>
            <c:symbol val="none"/>
          </c:marker>
          <c:cat>
            <c:strRef>
              <c:f>'Chart Data'!$A$2:$A$68</c:f>
              <c:strCache>
                <c:ptCount val="6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</c:strCache>
            </c:strRef>
          </c:cat>
          <c:val>
            <c:numRef>
              <c:f>'Chart Data'!$B$2:$B$68</c:f>
              <c:numCache>
                <c:formatCode>0</c:formatCode>
                <c:ptCount val="6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1</c:v>
                </c:pt>
                <c:pt idx="24">
                  <c:v>1</c:v>
                </c:pt>
                <c:pt idx="25">
                  <c:v>11</c:v>
                </c:pt>
                <c:pt idx="26">
                  <c:v>67</c:v>
                </c:pt>
                <c:pt idx="27">
                  <c:v>15</c:v>
                </c:pt>
                <c:pt idx="28">
                  <c:v>30</c:v>
                </c:pt>
                <c:pt idx="29">
                  <c:v>16</c:v>
                </c:pt>
                <c:pt idx="30">
                  <c:v>8</c:v>
                </c:pt>
                <c:pt idx="31">
                  <c:v>12</c:v>
                </c:pt>
                <c:pt idx="32">
                  <c:v>10</c:v>
                </c:pt>
                <c:pt idx="33">
                  <c:v>7</c:v>
                </c:pt>
                <c:pt idx="34">
                  <c:v>6</c:v>
                </c:pt>
                <c:pt idx="35">
                  <c:v>7</c:v>
                </c:pt>
                <c:pt idx="36">
                  <c:v>4</c:v>
                </c:pt>
                <c:pt idx="37">
                  <c:v>7</c:v>
                </c:pt>
                <c:pt idx="38">
                  <c:v>3</c:v>
                </c:pt>
                <c:pt idx="39">
                  <c:v>18</c:v>
                </c:pt>
                <c:pt idx="40">
                  <c:v>7</c:v>
                </c:pt>
                <c:pt idx="41">
                  <c:v>6</c:v>
                </c:pt>
                <c:pt idx="42">
                  <c:v>9</c:v>
                </c:pt>
                <c:pt idx="43">
                  <c:v>7</c:v>
                </c:pt>
                <c:pt idx="44">
                  <c:v>10</c:v>
                </c:pt>
                <c:pt idx="45">
                  <c:v>18</c:v>
                </c:pt>
                <c:pt idx="46">
                  <c:v>7</c:v>
                </c:pt>
                <c:pt idx="47">
                  <c:v>5</c:v>
                </c:pt>
                <c:pt idx="48">
                  <c:v>19</c:v>
                </c:pt>
                <c:pt idx="49">
                  <c:v>12</c:v>
                </c:pt>
                <c:pt idx="50">
                  <c:v>11</c:v>
                </c:pt>
                <c:pt idx="51">
                  <c:v>6</c:v>
                </c:pt>
                <c:pt idx="52">
                  <c:v>8</c:v>
                </c:pt>
                <c:pt idx="53">
                  <c:v>8</c:v>
                </c:pt>
                <c:pt idx="54">
                  <c:v>3</c:v>
                </c:pt>
                <c:pt idx="55">
                  <c:v>0</c:v>
                </c:pt>
                <c:pt idx="56">
                  <c:v>5</c:v>
                </c:pt>
                <c:pt idx="57">
                  <c:v>9</c:v>
                </c:pt>
                <c:pt idx="58">
                  <c:v>7</c:v>
                </c:pt>
                <c:pt idx="59">
                  <c:v>4</c:v>
                </c:pt>
                <c:pt idx="60">
                  <c:v>7</c:v>
                </c:pt>
                <c:pt idx="61">
                  <c:v>4</c:v>
                </c:pt>
                <c:pt idx="62">
                  <c:v>4</c:v>
                </c:pt>
                <c:pt idx="63">
                  <c:v>3</c:v>
                </c:pt>
                <c:pt idx="64">
                  <c:v>5</c:v>
                </c:pt>
                <c:pt idx="65">
                  <c:v>4</c:v>
                </c:pt>
                <c:pt idx="66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A4-44FA-BBD2-3FA6C4A2F5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Μήνας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C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Μηνύματα / μήνα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Εκλογές</c:v>
          </c:tx>
          <c:spPr>
            <a:ln w="28575">
              <a:solidFill>
                <a:srgbClr val="167D8D"/>
              </a:solidFill>
            </a:ln>
          </c:spPr>
          <c:marker>
            <c:symbol val="none"/>
          </c:marker>
          <c:cat>
            <c:strRef>
              <c:f>'Chart Data'!$A$2:$A$68</c:f>
              <c:strCache>
                <c:ptCount val="6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</c:strCache>
            </c:strRef>
          </c:cat>
          <c:val>
            <c:numRef>
              <c:f>'Chart Data'!$B$2:$B$68</c:f>
              <c:numCache>
                <c:formatCode>0</c:formatCode>
                <c:ptCount val="67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37</c:v>
                </c:pt>
                <c:pt idx="5">
                  <c:v>20</c:v>
                </c:pt>
                <c:pt idx="6">
                  <c:v>0</c:v>
                </c:pt>
                <c:pt idx="7">
                  <c:v>1</c:v>
                </c:pt>
                <c:pt idx="8">
                  <c:v>10</c:v>
                </c:pt>
                <c:pt idx="9">
                  <c:v>2</c:v>
                </c:pt>
                <c:pt idx="10">
                  <c:v>6</c:v>
                </c:pt>
                <c:pt idx="11">
                  <c:v>10</c:v>
                </c:pt>
                <c:pt idx="12">
                  <c:v>2</c:v>
                </c:pt>
                <c:pt idx="13">
                  <c:v>5</c:v>
                </c:pt>
                <c:pt idx="14">
                  <c:v>5</c:v>
                </c:pt>
                <c:pt idx="15">
                  <c:v>9</c:v>
                </c:pt>
                <c:pt idx="16">
                  <c:v>9</c:v>
                </c:pt>
                <c:pt idx="17">
                  <c:v>37</c:v>
                </c:pt>
                <c:pt idx="18">
                  <c:v>12</c:v>
                </c:pt>
                <c:pt idx="19">
                  <c:v>3</c:v>
                </c:pt>
                <c:pt idx="20">
                  <c:v>21</c:v>
                </c:pt>
                <c:pt idx="21">
                  <c:v>9</c:v>
                </c:pt>
                <c:pt idx="22">
                  <c:v>46</c:v>
                </c:pt>
                <c:pt idx="23">
                  <c:v>9</c:v>
                </c:pt>
                <c:pt idx="24">
                  <c:v>0</c:v>
                </c:pt>
                <c:pt idx="25">
                  <c:v>2</c:v>
                </c:pt>
                <c:pt idx="26">
                  <c:v>0</c:v>
                </c:pt>
                <c:pt idx="27">
                  <c:v>5</c:v>
                </c:pt>
                <c:pt idx="28">
                  <c:v>2</c:v>
                </c:pt>
                <c:pt idx="29">
                  <c:v>37</c:v>
                </c:pt>
                <c:pt idx="30">
                  <c:v>124</c:v>
                </c:pt>
                <c:pt idx="31">
                  <c:v>16</c:v>
                </c:pt>
                <c:pt idx="32">
                  <c:v>3</c:v>
                </c:pt>
                <c:pt idx="33">
                  <c:v>8</c:v>
                </c:pt>
                <c:pt idx="34">
                  <c:v>0</c:v>
                </c:pt>
                <c:pt idx="35">
                  <c:v>2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4</c:v>
                </c:pt>
                <c:pt idx="40">
                  <c:v>15</c:v>
                </c:pt>
                <c:pt idx="41">
                  <c:v>40</c:v>
                </c:pt>
                <c:pt idx="42">
                  <c:v>10</c:v>
                </c:pt>
                <c:pt idx="43">
                  <c:v>0</c:v>
                </c:pt>
                <c:pt idx="44">
                  <c:v>3</c:v>
                </c:pt>
                <c:pt idx="45">
                  <c:v>5</c:v>
                </c:pt>
                <c:pt idx="46">
                  <c:v>4</c:v>
                </c:pt>
                <c:pt idx="47">
                  <c:v>2</c:v>
                </c:pt>
                <c:pt idx="48">
                  <c:v>1</c:v>
                </c:pt>
                <c:pt idx="49">
                  <c:v>3</c:v>
                </c:pt>
                <c:pt idx="50">
                  <c:v>0</c:v>
                </c:pt>
                <c:pt idx="51">
                  <c:v>1</c:v>
                </c:pt>
                <c:pt idx="52">
                  <c:v>23</c:v>
                </c:pt>
                <c:pt idx="53">
                  <c:v>96</c:v>
                </c:pt>
                <c:pt idx="54">
                  <c:v>0</c:v>
                </c:pt>
                <c:pt idx="55">
                  <c:v>0</c:v>
                </c:pt>
                <c:pt idx="56">
                  <c:v>4</c:v>
                </c:pt>
                <c:pt idx="57">
                  <c:v>0</c:v>
                </c:pt>
                <c:pt idx="58">
                  <c:v>17</c:v>
                </c:pt>
                <c:pt idx="59">
                  <c:v>6</c:v>
                </c:pt>
                <c:pt idx="60">
                  <c:v>2</c:v>
                </c:pt>
                <c:pt idx="61">
                  <c:v>0</c:v>
                </c:pt>
                <c:pt idx="62">
                  <c:v>4</c:v>
                </c:pt>
                <c:pt idx="63">
                  <c:v>0</c:v>
                </c:pt>
                <c:pt idx="64">
                  <c:v>2</c:v>
                </c:pt>
                <c:pt idx="65">
                  <c:v>6</c:v>
                </c:pt>
                <c:pt idx="6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FD-44B5-8EB2-3D03E1D976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Μήνας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C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Μηνύματα / μήνα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Ευχές</c:v>
          </c:tx>
          <c:spPr>
            <a:ln w="28575">
              <a:solidFill>
                <a:srgbClr val="009E73"/>
              </a:solidFill>
            </a:ln>
          </c:spPr>
          <c:marker>
            <c:symbol val="none"/>
          </c:marker>
          <c:cat>
            <c:strRef>
              <c:f>'Chart Data'!$A$2:$A$68</c:f>
              <c:strCache>
                <c:ptCount val="6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</c:strCache>
            </c:strRef>
          </c:cat>
          <c:val>
            <c:numRef>
              <c:f>'Chart Data'!$B$2:$B$68</c:f>
              <c:numCache>
                <c:formatCode>0</c:formatCode>
                <c:ptCount val="67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17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7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13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7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1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14</c:v>
                </c:pt>
                <c:pt idx="36">
                  <c:v>2</c:v>
                </c:pt>
                <c:pt idx="37">
                  <c:v>0</c:v>
                </c:pt>
                <c:pt idx="38">
                  <c:v>0</c:v>
                </c:pt>
                <c:pt idx="39">
                  <c:v>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1</c:v>
                </c:pt>
                <c:pt idx="47">
                  <c:v>7</c:v>
                </c:pt>
                <c:pt idx="48">
                  <c:v>1</c:v>
                </c:pt>
                <c:pt idx="49">
                  <c:v>0</c:v>
                </c:pt>
                <c:pt idx="50">
                  <c:v>1</c:v>
                </c:pt>
                <c:pt idx="51">
                  <c:v>7</c:v>
                </c:pt>
                <c:pt idx="52">
                  <c:v>0</c:v>
                </c:pt>
                <c:pt idx="53">
                  <c:v>1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12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11</c:v>
                </c:pt>
                <c:pt idx="64">
                  <c:v>1</c:v>
                </c:pt>
                <c:pt idx="65">
                  <c:v>0</c:v>
                </c:pt>
                <c:pt idx="6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93-417C-A18D-FA9E96E0B3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Μήνας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C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Μηνύματα / μήνα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Αναδιάρθρωση / ΤΕΙ</c:v>
          </c:tx>
          <c:spPr>
            <a:ln w="28575">
              <a:solidFill>
                <a:srgbClr val="CC79A7"/>
              </a:solidFill>
            </a:ln>
          </c:spPr>
          <c:marker>
            <c:symbol val="none"/>
          </c:marker>
          <c:cat>
            <c:strRef>
              <c:f>'Chart Data'!$A$2:$A$68</c:f>
              <c:strCache>
                <c:ptCount val="6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</c:strCache>
            </c:strRef>
          </c:cat>
          <c:val>
            <c:numRef>
              <c:f>'Chart Data'!$B$2:$B$68</c:f>
              <c:numCache>
                <c:formatCode>0</c:formatCode>
                <c:ptCount val="6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3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7</c:v>
                </c:pt>
                <c:pt idx="10">
                  <c:v>3</c:v>
                </c:pt>
                <c:pt idx="11">
                  <c:v>3</c:v>
                </c:pt>
                <c:pt idx="12">
                  <c:v>11</c:v>
                </c:pt>
                <c:pt idx="13">
                  <c:v>3</c:v>
                </c:pt>
                <c:pt idx="14">
                  <c:v>76</c:v>
                </c:pt>
                <c:pt idx="15">
                  <c:v>43</c:v>
                </c:pt>
                <c:pt idx="16">
                  <c:v>9</c:v>
                </c:pt>
                <c:pt idx="17">
                  <c:v>3</c:v>
                </c:pt>
                <c:pt idx="18">
                  <c:v>35</c:v>
                </c:pt>
                <c:pt idx="19">
                  <c:v>3</c:v>
                </c:pt>
                <c:pt idx="20">
                  <c:v>1</c:v>
                </c:pt>
                <c:pt idx="21">
                  <c:v>0</c:v>
                </c:pt>
                <c:pt idx="22">
                  <c:v>2</c:v>
                </c:pt>
                <c:pt idx="23">
                  <c:v>1</c:v>
                </c:pt>
                <c:pt idx="24">
                  <c:v>0</c:v>
                </c:pt>
                <c:pt idx="25">
                  <c:v>4</c:v>
                </c:pt>
                <c:pt idx="26">
                  <c:v>0</c:v>
                </c:pt>
                <c:pt idx="27">
                  <c:v>0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0</c:v>
                </c:pt>
                <c:pt idx="32">
                  <c:v>5</c:v>
                </c:pt>
                <c:pt idx="33">
                  <c:v>3</c:v>
                </c:pt>
                <c:pt idx="34">
                  <c:v>3</c:v>
                </c:pt>
                <c:pt idx="35">
                  <c:v>1</c:v>
                </c:pt>
                <c:pt idx="36">
                  <c:v>3</c:v>
                </c:pt>
                <c:pt idx="37">
                  <c:v>1</c:v>
                </c:pt>
                <c:pt idx="38">
                  <c:v>3</c:v>
                </c:pt>
                <c:pt idx="39">
                  <c:v>2</c:v>
                </c:pt>
                <c:pt idx="40">
                  <c:v>1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2</c:v>
                </c:pt>
                <c:pt idx="53">
                  <c:v>1</c:v>
                </c:pt>
                <c:pt idx="54">
                  <c:v>0</c:v>
                </c:pt>
                <c:pt idx="55">
                  <c:v>0</c:v>
                </c:pt>
                <c:pt idx="56">
                  <c:v>1</c:v>
                </c:pt>
                <c:pt idx="57">
                  <c:v>0</c:v>
                </c:pt>
                <c:pt idx="58">
                  <c:v>1</c:v>
                </c:pt>
                <c:pt idx="59">
                  <c:v>1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2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18-44E4-B02E-93A5F431B0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Μήνας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C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Μηνύματα / μήνα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Μερίδιο Academic Events</c:v>
          </c:tx>
          <c:spPr>
            <a:solidFill>
              <a:srgbClr val="167D8D"/>
            </a:solidFill>
          </c:spPr>
          <c:invertIfNegative val="1"/>
          <c:dPt>
            <c:idx val="1"/>
            <c:invertIfNegative val="0"/>
            <c:bubble3D val="0"/>
            <c:spPr>
              <a:solidFill>
                <a:srgbClr val="C87731"/>
              </a:solidFill>
            </c:spPr>
            <c:extLst>
              <c:ext xmlns:c16="http://schemas.microsoft.com/office/drawing/2014/chart" uri="{C3380CC4-5D6E-409C-BE32-E72D297353CC}">
                <c16:uniqueId val="{00000001-A706-4810-B302-B5FC68B221B6}"/>
              </c:ext>
            </c:extLst>
          </c:dPt>
          <c:dPt>
            <c:idx val="5"/>
            <c:invertIfNegative val="0"/>
            <c:bubble3D val="0"/>
            <c:spPr>
              <a:solidFill>
                <a:srgbClr val="C87731"/>
              </a:solidFill>
            </c:spPr>
            <c:extLst>
              <c:ext xmlns:c16="http://schemas.microsoft.com/office/drawing/2014/chart" uri="{C3380CC4-5D6E-409C-BE32-E72D297353CC}">
                <c16:uniqueId val="{00000003-A706-4810-B302-B5FC68B221B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Data'!$A$2:$A$13</c:f>
              <c:strCache>
                <c:ptCount val="12"/>
                <c:pt idx="0">
                  <c:v>Ιαν</c:v>
                </c:pt>
                <c:pt idx="1">
                  <c:v>Φεβ</c:v>
                </c:pt>
                <c:pt idx="2">
                  <c:v>Μαρ</c:v>
                </c:pt>
                <c:pt idx="3">
                  <c:v>Απρ</c:v>
                </c:pt>
                <c:pt idx="4">
                  <c:v>Μάι</c:v>
                </c:pt>
                <c:pt idx="5">
                  <c:v>Ιουν</c:v>
                </c:pt>
                <c:pt idx="6">
                  <c:v>Ιουλ</c:v>
                </c:pt>
                <c:pt idx="7">
                  <c:v>Αυγ</c:v>
                </c:pt>
                <c:pt idx="8">
                  <c:v>Σεπ</c:v>
                </c:pt>
                <c:pt idx="9">
                  <c:v>Οκτ</c:v>
                </c:pt>
                <c:pt idx="10">
                  <c:v>Νοε</c:v>
                </c:pt>
                <c:pt idx="11">
                  <c:v>Δεκ</c:v>
                </c:pt>
              </c:strCache>
            </c:strRef>
          </c:cat>
          <c:val>
            <c:numRef>
              <c:f>'Chart Data'!$B$2:$B$13</c:f>
              <c:numCache>
                <c:formatCode>0.0%</c:formatCode>
                <c:ptCount val="12"/>
                <c:pt idx="0">
                  <c:v>0.24008350730688929</c:v>
                </c:pt>
                <c:pt idx="1">
                  <c:v>0.32745825602968459</c:v>
                </c:pt>
                <c:pt idx="2">
                  <c:v>0.20911528150134051</c:v>
                </c:pt>
                <c:pt idx="3">
                  <c:v>0.1989304812834225</c:v>
                </c:pt>
                <c:pt idx="4">
                  <c:v>0.26406533575317598</c:v>
                </c:pt>
                <c:pt idx="5">
                  <c:v>0.30224150397686189</c:v>
                </c:pt>
                <c:pt idx="6">
                  <c:v>0.25460930640913082</c:v>
                </c:pt>
                <c:pt idx="7">
                  <c:v>0.18617021276595741</c:v>
                </c:pt>
                <c:pt idx="8">
                  <c:v>0.28305582761998038</c:v>
                </c:pt>
                <c:pt idx="9">
                  <c:v>0.26456542502387781</c:v>
                </c:pt>
                <c:pt idx="10">
                  <c:v>0.2317403065825068</c:v>
                </c:pt>
                <c:pt idx="11">
                  <c:v>0.26264591439688723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A706-4810-B302-B5FC68B221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CE4E8"/>
            </a:solidFill>
          </a:ln>
        </c:spPr>
        <c:txPr>
          <a:bodyPr anchorCtr="1"/>
          <a:lstStyle/>
          <a:p>
            <a:pPr>
              <a:defRPr sz="1275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w="9525">
              <a:solidFill>
                <a:srgbClr val="DCE4E8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Μεταπτυχιακά</c:v>
          </c:tx>
          <c:spPr>
            <a:ln w="28575">
              <a:solidFill>
                <a:srgbClr val="0072B2"/>
              </a:solidFill>
            </a:ln>
          </c:spPr>
          <c:marker>
            <c:symbol val="none"/>
          </c:marker>
          <c:cat>
            <c:strRef>
              <c:f>'Chart Data'!$A$2:$A$68</c:f>
              <c:strCache>
                <c:ptCount val="6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</c:strCache>
            </c:strRef>
          </c:cat>
          <c:val>
            <c:numRef>
              <c:f>'Chart Data'!$B$2:$B$68</c:f>
              <c:numCache>
                <c:formatCode>0</c:formatCode>
                <c:ptCount val="6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33</c:v>
                </c:pt>
                <c:pt idx="7">
                  <c:v>4</c:v>
                </c:pt>
                <c:pt idx="8">
                  <c:v>31</c:v>
                </c:pt>
                <c:pt idx="9">
                  <c:v>9</c:v>
                </c:pt>
                <c:pt idx="10">
                  <c:v>0</c:v>
                </c:pt>
                <c:pt idx="11">
                  <c:v>4</c:v>
                </c:pt>
                <c:pt idx="12">
                  <c:v>0</c:v>
                </c:pt>
                <c:pt idx="13">
                  <c:v>2</c:v>
                </c:pt>
                <c:pt idx="14">
                  <c:v>0</c:v>
                </c:pt>
                <c:pt idx="15">
                  <c:v>1</c:v>
                </c:pt>
                <c:pt idx="16">
                  <c:v>8</c:v>
                </c:pt>
                <c:pt idx="17">
                  <c:v>10</c:v>
                </c:pt>
                <c:pt idx="18">
                  <c:v>17</c:v>
                </c:pt>
                <c:pt idx="19">
                  <c:v>3</c:v>
                </c:pt>
                <c:pt idx="20">
                  <c:v>17</c:v>
                </c:pt>
                <c:pt idx="21">
                  <c:v>2</c:v>
                </c:pt>
                <c:pt idx="22">
                  <c:v>5</c:v>
                </c:pt>
                <c:pt idx="23">
                  <c:v>1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7</c:v>
                </c:pt>
                <c:pt idx="29">
                  <c:v>13</c:v>
                </c:pt>
                <c:pt idx="30">
                  <c:v>12</c:v>
                </c:pt>
                <c:pt idx="31">
                  <c:v>3</c:v>
                </c:pt>
                <c:pt idx="32">
                  <c:v>9</c:v>
                </c:pt>
                <c:pt idx="33">
                  <c:v>0</c:v>
                </c:pt>
                <c:pt idx="34">
                  <c:v>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1</c:v>
                </c:pt>
                <c:pt idx="40">
                  <c:v>7</c:v>
                </c:pt>
                <c:pt idx="41">
                  <c:v>11</c:v>
                </c:pt>
                <c:pt idx="42">
                  <c:v>9</c:v>
                </c:pt>
                <c:pt idx="43">
                  <c:v>6</c:v>
                </c:pt>
                <c:pt idx="44">
                  <c:v>12</c:v>
                </c:pt>
                <c:pt idx="45">
                  <c:v>0</c:v>
                </c:pt>
                <c:pt idx="46">
                  <c:v>4</c:v>
                </c:pt>
                <c:pt idx="47">
                  <c:v>1</c:v>
                </c:pt>
                <c:pt idx="48">
                  <c:v>1</c:v>
                </c:pt>
                <c:pt idx="49">
                  <c:v>0</c:v>
                </c:pt>
                <c:pt idx="50">
                  <c:v>1</c:v>
                </c:pt>
                <c:pt idx="51">
                  <c:v>1</c:v>
                </c:pt>
                <c:pt idx="52">
                  <c:v>7</c:v>
                </c:pt>
                <c:pt idx="53">
                  <c:v>7</c:v>
                </c:pt>
                <c:pt idx="54">
                  <c:v>10</c:v>
                </c:pt>
                <c:pt idx="55">
                  <c:v>5</c:v>
                </c:pt>
                <c:pt idx="56">
                  <c:v>4</c:v>
                </c:pt>
                <c:pt idx="57">
                  <c:v>0</c:v>
                </c:pt>
                <c:pt idx="58">
                  <c:v>5</c:v>
                </c:pt>
                <c:pt idx="59">
                  <c:v>2</c:v>
                </c:pt>
                <c:pt idx="60">
                  <c:v>1</c:v>
                </c:pt>
                <c:pt idx="61">
                  <c:v>2</c:v>
                </c:pt>
                <c:pt idx="62">
                  <c:v>2</c:v>
                </c:pt>
                <c:pt idx="63">
                  <c:v>3</c:v>
                </c:pt>
                <c:pt idx="64">
                  <c:v>2</c:v>
                </c:pt>
                <c:pt idx="65">
                  <c:v>22</c:v>
                </c:pt>
                <c:pt idx="66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E7-42DE-80F9-EFF57A3996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Μήνας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C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Μηνύματα / μήνα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Ακαδημαϊκά</c:v>
          </c:tx>
          <c:spPr>
            <a:ln w="25718">
              <a:solidFill>
                <a:srgbClr val="142D43"/>
              </a:solidFill>
            </a:ln>
          </c:spPr>
          <c:marker>
            <c:symbol val="none"/>
          </c:marker>
          <c:cat>
            <c:strRef>
              <c:f>'Chart Data'!$A$2:$A$68</c:f>
              <c:strCache>
                <c:ptCount val="6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</c:strCache>
            </c:strRef>
          </c:cat>
          <c:val>
            <c:numRef>
              <c:f>'Chart Data'!$B$2:$B$68</c:f>
              <c:numCache>
                <c:formatCode>General</c:formatCode>
                <c:ptCount val="67"/>
                <c:pt idx="0">
                  <c:v>46</c:v>
                </c:pt>
                <c:pt idx="1">
                  <c:v>75</c:v>
                </c:pt>
                <c:pt idx="2">
                  <c:v>47</c:v>
                </c:pt>
                <c:pt idx="3">
                  <c:v>31</c:v>
                </c:pt>
                <c:pt idx="4">
                  <c:v>71</c:v>
                </c:pt>
                <c:pt idx="5">
                  <c:v>103</c:v>
                </c:pt>
                <c:pt idx="6">
                  <c:v>40</c:v>
                </c:pt>
                <c:pt idx="7">
                  <c:v>5</c:v>
                </c:pt>
                <c:pt idx="8">
                  <c:v>53</c:v>
                </c:pt>
                <c:pt idx="9">
                  <c:v>52</c:v>
                </c:pt>
                <c:pt idx="10">
                  <c:v>52</c:v>
                </c:pt>
                <c:pt idx="11">
                  <c:v>57</c:v>
                </c:pt>
                <c:pt idx="12">
                  <c:v>58</c:v>
                </c:pt>
                <c:pt idx="13">
                  <c:v>73</c:v>
                </c:pt>
                <c:pt idx="14">
                  <c:v>51</c:v>
                </c:pt>
                <c:pt idx="15">
                  <c:v>47</c:v>
                </c:pt>
                <c:pt idx="16">
                  <c:v>58</c:v>
                </c:pt>
                <c:pt idx="17">
                  <c:v>72</c:v>
                </c:pt>
                <c:pt idx="18">
                  <c:v>59</c:v>
                </c:pt>
                <c:pt idx="19">
                  <c:v>13</c:v>
                </c:pt>
                <c:pt idx="20">
                  <c:v>59</c:v>
                </c:pt>
                <c:pt idx="21">
                  <c:v>52</c:v>
                </c:pt>
                <c:pt idx="22">
                  <c:v>67</c:v>
                </c:pt>
                <c:pt idx="23">
                  <c:v>45</c:v>
                </c:pt>
                <c:pt idx="24">
                  <c:v>38</c:v>
                </c:pt>
                <c:pt idx="25">
                  <c:v>60</c:v>
                </c:pt>
                <c:pt idx="26">
                  <c:v>28</c:v>
                </c:pt>
                <c:pt idx="27">
                  <c:v>27</c:v>
                </c:pt>
                <c:pt idx="28">
                  <c:v>32</c:v>
                </c:pt>
                <c:pt idx="29">
                  <c:v>57</c:v>
                </c:pt>
                <c:pt idx="30">
                  <c:v>82</c:v>
                </c:pt>
                <c:pt idx="31">
                  <c:v>14</c:v>
                </c:pt>
                <c:pt idx="32">
                  <c:v>58</c:v>
                </c:pt>
                <c:pt idx="33">
                  <c:v>47</c:v>
                </c:pt>
                <c:pt idx="34">
                  <c:v>36</c:v>
                </c:pt>
                <c:pt idx="35">
                  <c:v>50</c:v>
                </c:pt>
                <c:pt idx="36">
                  <c:v>44</c:v>
                </c:pt>
                <c:pt idx="37">
                  <c:v>67</c:v>
                </c:pt>
                <c:pt idx="38">
                  <c:v>68</c:v>
                </c:pt>
                <c:pt idx="39">
                  <c:v>48</c:v>
                </c:pt>
                <c:pt idx="40">
                  <c:v>61</c:v>
                </c:pt>
                <c:pt idx="41">
                  <c:v>75</c:v>
                </c:pt>
                <c:pt idx="42">
                  <c:v>57</c:v>
                </c:pt>
                <c:pt idx="43">
                  <c:v>22</c:v>
                </c:pt>
                <c:pt idx="44">
                  <c:v>66</c:v>
                </c:pt>
                <c:pt idx="45">
                  <c:v>52</c:v>
                </c:pt>
                <c:pt idx="46">
                  <c:v>61</c:v>
                </c:pt>
                <c:pt idx="47">
                  <c:v>56</c:v>
                </c:pt>
                <c:pt idx="48">
                  <c:v>44</c:v>
                </c:pt>
                <c:pt idx="49">
                  <c:v>78</c:v>
                </c:pt>
                <c:pt idx="50">
                  <c:v>40</c:v>
                </c:pt>
                <c:pt idx="51">
                  <c:v>33</c:v>
                </c:pt>
                <c:pt idx="52">
                  <c:v>69</c:v>
                </c:pt>
                <c:pt idx="53">
                  <c:v>111</c:v>
                </c:pt>
                <c:pt idx="54">
                  <c:v>52</c:v>
                </c:pt>
                <c:pt idx="55">
                  <c:v>16</c:v>
                </c:pt>
                <c:pt idx="56">
                  <c:v>53</c:v>
                </c:pt>
                <c:pt idx="57">
                  <c:v>74</c:v>
                </c:pt>
                <c:pt idx="58">
                  <c:v>41</c:v>
                </c:pt>
                <c:pt idx="59">
                  <c:v>62</c:v>
                </c:pt>
                <c:pt idx="60">
                  <c:v>53</c:v>
                </c:pt>
                <c:pt idx="61">
                  <c:v>76</c:v>
                </c:pt>
                <c:pt idx="62">
                  <c:v>71</c:v>
                </c:pt>
                <c:pt idx="63">
                  <c:v>18</c:v>
                </c:pt>
                <c:pt idx="64">
                  <c:v>71</c:v>
                </c:pt>
                <c:pt idx="65">
                  <c:v>101</c:v>
                </c:pt>
                <c:pt idx="66">
                  <c:v>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DC-47A5-AF44-1392CC6AFBAD}"/>
            </c:ext>
          </c:extLst>
        </c:ser>
        <c:ser>
          <c:idx val="1"/>
          <c:order val="1"/>
          <c:tx>
            <c:v>Εκλογές</c:v>
          </c:tx>
          <c:spPr>
            <a:ln w="25718">
              <a:solidFill>
                <a:srgbClr val="E69F00"/>
              </a:solidFill>
            </a:ln>
          </c:spPr>
          <c:marker>
            <c:symbol val="none"/>
          </c:marker>
          <c:cat>
            <c:strRef>
              <c:f>'Chart Data'!$C$2:$C$68</c:f>
              <c:strCache>
                <c:ptCount val="6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</c:strCache>
            </c:strRef>
          </c:cat>
          <c:val>
            <c:numRef>
              <c:f>'Chart Data'!$D$2:$D$68</c:f>
              <c:numCache>
                <c:formatCode>General</c:formatCode>
                <c:ptCount val="67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37</c:v>
                </c:pt>
                <c:pt idx="5">
                  <c:v>20</c:v>
                </c:pt>
                <c:pt idx="6">
                  <c:v>0</c:v>
                </c:pt>
                <c:pt idx="7">
                  <c:v>1</c:v>
                </c:pt>
                <c:pt idx="8">
                  <c:v>10</c:v>
                </c:pt>
                <c:pt idx="9">
                  <c:v>2</c:v>
                </c:pt>
                <c:pt idx="10">
                  <c:v>6</c:v>
                </c:pt>
                <c:pt idx="11">
                  <c:v>10</c:v>
                </c:pt>
                <c:pt idx="12">
                  <c:v>2</c:v>
                </c:pt>
                <c:pt idx="13">
                  <c:v>5</c:v>
                </c:pt>
                <c:pt idx="14">
                  <c:v>5</c:v>
                </c:pt>
                <c:pt idx="15">
                  <c:v>9</c:v>
                </c:pt>
                <c:pt idx="16">
                  <c:v>9</c:v>
                </c:pt>
                <c:pt idx="17">
                  <c:v>37</c:v>
                </c:pt>
                <c:pt idx="18">
                  <c:v>12</c:v>
                </c:pt>
                <c:pt idx="19">
                  <c:v>3</c:v>
                </c:pt>
                <c:pt idx="20">
                  <c:v>21</c:v>
                </c:pt>
                <c:pt idx="21">
                  <c:v>9</c:v>
                </c:pt>
                <c:pt idx="22">
                  <c:v>46</c:v>
                </c:pt>
                <c:pt idx="23">
                  <c:v>9</c:v>
                </c:pt>
                <c:pt idx="24">
                  <c:v>0</c:v>
                </c:pt>
                <c:pt idx="25">
                  <c:v>2</c:v>
                </c:pt>
                <c:pt idx="26">
                  <c:v>0</c:v>
                </c:pt>
                <c:pt idx="27">
                  <c:v>5</c:v>
                </c:pt>
                <c:pt idx="28">
                  <c:v>2</c:v>
                </c:pt>
                <c:pt idx="29">
                  <c:v>37</c:v>
                </c:pt>
                <c:pt idx="30">
                  <c:v>124</c:v>
                </c:pt>
                <c:pt idx="31">
                  <c:v>16</c:v>
                </c:pt>
                <c:pt idx="32">
                  <c:v>3</c:v>
                </c:pt>
                <c:pt idx="33">
                  <c:v>8</c:v>
                </c:pt>
                <c:pt idx="34">
                  <c:v>0</c:v>
                </c:pt>
                <c:pt idx="35">
                  <c:v>2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4</c:v>
                </c:pt>
                <c:pt idx="40">
                  <c:v>15</c:v>
                </c:pt>
                <c:pt idx="41">
                  <c:v>40</c:v>
                </c:pt>
                <c:pt idx="42">
                  <c:v>10</c:v>
                </c:pt>
                <c:pt idx="43">
                  <c:v>0</c:v>
                </c:pt>
                <c:pt idx="44">
                  <c:v>3</c:v>
                </c:pt>
                <c:pt idx="45">
                  <c:v>5</c:v>
                </c:pt>
                <c:pt idx="46">
                  <c:v>4</c:v>
                </c:pt>
                <c:pt idx="47">
                  <c:v>2</c:v>
                </c:pt>
                <c:pt idx="48">
                  <c:v>1</c:v>
                </c:pt>
                <c:pt idx="49">
                  <c:v>3</c:v>
                </c:pt>
                <c:pt idx="50">
                  <c:v>0</c:v>
                </c:pt>
                <c:pt idx="51">
                  <c:v>1</c:v>
                </c:pt>
                <c:pt idx="52">
                  <c:v>23</c:v>
                </c:pt>
                <c:pt idx="53">
                  <c:v>96</c:v>
                </c:pt>
                <c:pt idx="54">
                  <c:v>0</c:v>
                </c:pt>
                <c:pt idx="55">
                  <c:v>0</c:v>
                </c:pt>
                <c:pt idx="56">
                  <c:v>4</c:v>
                </c:pt>
                <c:pt idx="57">
                  <c:v>0</c:v>
                </c:pt>
                <c:pt idx="58">
                  <c:v>17</c:v>
                </c:pt>
                <c:pt idx="59">
                  <c:v>6</c:v>
                </c:pt>
                <c:pt idx="60">
                  <c:v>2</c:v>
                </c:pt>
                <c:pt idx="61">
                  <c:v>0</c:v>
                </c:pt>
                <c:pt idx="62">
                  <c:v>4</c:v>
                </c:pt>
                <c:pt idx="63">
                  <c:v>0</c:v>
                </c:pt>
                <c:pt idx="64">
                  <c:v>2</c:v>
                </c:pt>
                <c:pt idx="65">
                  <c:v>6</c:v>
                </c:pt>
                <c:pt idx="6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DC-47A5-AF44-1392CC6AFBAD}"/>
            </c:ext>
          </c:extLst>
        </c:ser>
        <c:ser>
          <c:idx val="2"/>
          <c:order val="2"/>
          <c:tx>
            <c:v>COVID-19</c:v>
          </c:tx>
          <c:spPr>
            <a:ln w="25718">
              <a:solidFill>
                <a:srgbClr val="D55E00"/>
              </a:solidFill>
            </a:ln>
          </c:spPr>
          <c:marker>
            <c:symbol val="none"/>
          </c:marker>
          <c:cat>
            <c:strRef>
              <c:f>'Chart Data'!$E$2:$E$68</c:f>
              <c:strCache>
                <c:ptCount val="6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</c:strCache>
            </c:strRef>
          </c:cat>
          <c:val>
            <c:numRef>
              <c:f>'Chart Data'!$F$2:$F$68</c:f>
              <c:numCache>
                <c:formatCode>General</c:formatCode>
                <c:ptCount val="6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1</c:v>
                </c:pt>
                <c:pt idx="24">
                  <c:v>1</c:v>
                </c:pt>
                <c:pt idx="25">
                  <c:v>11</c:v>
                </c:pt>
                <c:pt idx="26">
                  <c:v>67</c:v>
                </c:pt>
                <c:pt idx="27">
                  <c:v>15</c:v>
                </c:pt>
                <c:pt idx="28">
                  <c:v>30</c:v>
                </c:pt>
                <c:pt idx="29">
                  <c:v>16</c:v>
                </c:pt>
                <c:pt idx="30">
                  <c:v>8</c:v>
                </c:pt>
                <c:pt idx="31">
                  <c:v>12</c:v>
                </c:pt>
                <c:pt idx="32">
                  <c:v>10</c:v>
                </c:pt>
                <c:pt idx="33">
                  <c:v>7</c:v>
                </c:pt>
                <c:pt idx="34">
                  <c:v>6</c:v>
                </c:pt>
                <c:pt idx="35">
                  <c:v>7</c:v>
                </c:pt>
                <c:pt idx="36">
                  <c:v>4</c:v>
                </c:pt>
                <c:pt idx="37">
                  <c:v>7</c:v>
                </c:pt>
                <c:pt idx="38">
                  <c:v>3</c:v>
                </c:pt>
                <c:pt idx="39">
                  <c:v>18</c:v>
                </c:pt>
                <c:pt idx="40">
                  <c:v>7</c:v>
                </c:pt>
                <c:pt idx="41">
                  <c:v>6</c:v>
                </c:pt>
                <c:pt idx="42">
                  <c:v>9</c:v>
                </c:pt>
                <c:pt idx="43">
                  <c:v>7</c:v>
                </c:pt>
                <c:pt idx="44">
                  <c:v>10</c:v>
                </c:pt>
                <c:pt idx="45">
                  <c:v>18</c:v>
                </c:pt>
                <c:pt idx="46">
                  <c:v>7</c:v>
                </c:pt>
                <c:pt idx="47">
                  <c:v>5</c:v>
                </c:pt>
                <c:pt idx="48">
                  <c:v>19</c:v>
                </c:pt>
                <c:pt idx="49">
                  <c:v>12</c:v>
                </c:pt>
                <c:pt idx="50">
                  <c:v>11</c:v>
                </c:pt>
                <c:pt idx="51">
                  <c:v>6</c:v>
                </c:pt>
                <c:pt idx="52">
                  <c:v>8</c:v>
                </c:pt>
                <c:pt idx="53">
                  <c:v>8</c:v>
                </c:pt>
                <c:pt idx="54">
                  <c:v>3</c:v>
                </c:pt>
                <c:pt idx="55">
                  <c:v>0</c:v>
                </c:pt>
                <c:pt idx="56">
                  <c:v>5</c:v>
                </c:pt>
                <c:pt idx="57">
                  <c:v>9</c:v>
                </c:pt>
                <c:pt idx="58">
                  <c:v>7</c:v>
                </c:pt>
                <c:pt idx="59">
                  <c:v>4</c:v>
                </c:pt>
                <c:pt idx="60">
                  <c:v>7</c:v>
                </c:pt>
                <c:pt idx="61">
                  <c:v>4</c:v>
                </c:pt>
                <c:pt idx="62">
                  <c:v>4</c:v>
                </c:pt>
                <c:pt idx="63">
                  <c:v>3</c:v>
                </c:pt>
                <c:pt idx="64">
                  <c:v>5</c:v>
                </c:pt>
                <c:pt idx="65">
                  <c:v>4</c:v>
                </c:pt>
                <c:pt idx="66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1DC-47A5-AF44-1392CC6AFBAD}"/>
            </c:ext>
          </c:extLst>
        </c:ser>
        <c:ser>
          <c:idx val="3"/>
          <c:order val="3"/>
          <c:tx>
            <c:v>Ευχές</c:v>
          </c:tx>
          <c:spPr>
            <a:ln w="25718">
              <a:solidFill>
                <a:srgbClr val="009E73"/>
              </a:solidFill>
            </a:ln>
          </c:spPr>
          <c:marker>
            <c:symbol val="none"/>
          </c:marker>
          <c:cat>
            <c:strRef>
              <c:f>'Chart Data'!$G$2:$G$68</c:f>
              <c:strCache>
                <c:ptCount val="6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</c:strCache>
            </c:strRef>
          </c:cat>
          <c:val>
            <c:numRef>
              <c:f>'Chart Data'!$H$2:$H$68</c:f>
              <c:numCache>
                <c:formatCode>General</c:formatCode>
                <c:ptCount val="67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17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7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13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7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1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14</c:v>
                </c:pt>
                <c:pt idx="36">
                  <c:v>2</c:v>
                </c:pt>
                <c:pt idx="37">
                  <c:v>0</c:v>
                </c:pt>
                <c:pt idx="38">
                  <c:v>0</c:v>
                </c:pt>
                <c:pt idx="39">
                  <c:v>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1</c:v>
                </c:pt>
                <c:pt idx="47">
                  <c:v>7</c:v>
                </c:pt>
                <c:pt idx="48">
                  <c:v>1</c:v>
                </c:pt>
                <c:pt idx="49">
                  <c:v>0</c:v>
                </c:pt>
                <c:pt idx="50">
                  <c:v>1</c:v>
                </c:pt>
                <c:pt idx="51">
                  <c:v>7</c:v>
                </c:pt>
                <c:pt idx="52">
                  <c:v>0</c:v>
                </c:pt>
                <c:pt idx="53">
                  <c:v>1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12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11</c:v>
                </c:pt>
                <c:pt idx="64">
                  <c:v>1</c:v>
                </c:pt>
                <c:pt idx="65">
                  <c:v>0</c:v>
                </c:pt>
                <c:pt idx="6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DC-47A5-AF44-1392CC6AFBAD}"/>
            </c:ext>
          </c:extLst>
        </c:ser>
        <c:ser>
          <c:idx val="4"/>
          <c:order val="4"/>
          <c:tx>
            <c:v>Αναδιάρθρωση / ΤΕΙ</c:v>
          </c:tx>
          <c:spPr>
            <a:ln w="25718">
              <a:solidFill>
                <a:srgbClr val="CC79A7"/>
              </a:solidFill>
            </a:ln>
          </c:spPr>
          <c:marker>
            <c:symbol val="none"/>
          </c:marker>
          <c:cat>
            <c:strRef>
              <c:f>'Chart Data'!$I$2:$I$68</c:f>
              <c:strCache>
                <c:ptCount val="6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</c:strCache>
            </c:strRef>
          </c:cat>
          <c:val>
            <c:numRef>
              <c:f>'Chart Data'!$J$2:$J$68</c:f>
              <c:numCache>
                <c:formatCode>General</c:formatCode>
                <c:ptCount val="6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3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7</c:v>
                </c:pt>
                <c:pt idx="10">
                  <c:v>3</c:v>
                </c:pt>
                <c:pt idx="11">
                  <c:v>3</c:v>
                </c:pt>
                <c:pt idx="12">
                  <c:v>11</c:v>
                </c:pt>
                <c:pt idx="13">
                  <c:v>3</c:v>
                </c:pt>
                <c:pt idx="14">
                  <c:v>76</c:v>
                </c:pt>
                <c:pt idx="15">
                  <c:v>43</c:v>
                </c:pt>
                <c:pt idx="16">
                  <c:v>9</c:v>
                </c:pt>
                <c:pt idx="17">
                  <c:v>3</c:v>
                </c:pt>
                <c:pt idx="18">
                  <c:v>35</c:v>
                </c:pt>
                <c:pt idx="19">
                  <c:v>3</c:v>
                </c:pt>
                <c:pt idx="20">
                  <c:v>1</c:v>
                </c:pt>
                <c:pt idx="21">
                  <c:v>0</c:v>
                </c:pt>
                <c:pt idx="22">
                  <c:v>2</c:v>
                </c:pt>
                <c:pt idx="23">
                  <c:v>1</c:v>
                </c:pt>
                <c:pt idx="24">
                  <c:v>0</c:v>
                </c:pt>
                <c:pt idx="25">
                  <c:v>4</c:v>
                </c:pt>
                <c:pt idx="26">
                  <c:v>0</c:v>
                </c:pt>
                <c:pt idx="27">
                  <c:v>0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0</c:v>
                </c:pt>
                <c:pt idx="32">
                  <c:v>5</c:v>
                </c:pt>
                <c:pt idx="33">
                  <c:v>3</c:v>
                </c:pt>
                <c:pt idx="34">
                  <c:v>3</c:v>
                </c:pt>
                <c:pt idx="35">
                  <c:v>1</c:v>
                </c:pt>
                <c:pt idx="36">
                  <c:v>3</c:v>
                </c:pt>
                <c:pt idx="37">
                  <c:v>1</c:v>
                </c:pt>
                <c:pt idx="38">
                  <c:v>3</c:v>
                </c:pt>
                <c:pt idx="39">
                  <c:v>2</c:v>
                </c:pt>
                <c:pt idx="40">
                  <c:v>1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2</c:v>
                </c:pt>
                <c:pt idx="53">
                  <c:v>1</c:v>
                </c:pt>
                <c:pt idx="54">
                  <c:v>0</c:v>
                </c:pt>
                <c:pt idx="55">
                  <c:v>0</c:v>
                </c:pt>
                <c:pt idx="56">
                  <c:v>1</c:v>
                </c:pt>
                <c:pt idx="57">
                  <c:v>0</c:v>
                </c:pt>
                <c:pt idx="58">
                  <c:v>1</c:v>
                </c:pt>
                <c:pt idx="59">
                  <c:v>1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2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1DC-47A5-AF44-1392CC6AFBAD}"/>
            </c:ext>
          </c:extLst>
        </c:ser>
        <c:ser>
          <c:idx val="5"/>
          <c:order val="5"/>
          <c:tx>
            <c:v>Μεταπτυχιακά</c:v>
          </c:tx>
          <c:spPr>
            <a:ln w="25718">
              <a:solidFill>
                <a:srgbClr val="0072B2"/>
              </a:solidFill>
            </a:ln>
          </c:spPr>
          <c:marker>
            <c:symbol val="none"/>
          </c:marker>
          <c:cat>
            <c:strRef>
              <c:f>'Chart Data'!$K$2:$K$68</c:f>
              <c:strCache>
                <c:ptCount val="67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</c:strCache>
            </c:strRef>
          </c:cat>
          <c:val>
            <c:numRef>
              <c:f>'Chart Data'!$L$2:$L$68</c:f>
              <c:numCache>
                <c:formatCode>General</c:formatCode>
                <c:ptCount val="6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33</c:v>
                </c:pt>
                <c:pt idx="7">
                  <c:v>4</c:v>
                </c:pt>
                <c:pt idx="8">
                  <c:v>31</c:v>
                </c:pt>
                <c:pt idx="9">
                  <c:v>9</c:v>
                </c:pt>
                <c:pt idx="10">
                  <c:v>0</c:v>
                </c:pt>
                <c:pt idx="11">
                  <c:v>4</c:v>
                </c:pt>
                <c:pt idx="12">
                  <c:v>0</c:v>
                </c:pt>
                <c:pt idx="13">
                  <c:v>2</c:v>
                </c:pt>
                <c:pt idx="14">
                  <c:v>0</c:v>
                </c:pt>
                <c:pt idx="15">
                  <c:v>1</c:v>
                </c:pt>
                <c:pt idx="16">
                  <c:v>8</c:v>
                </c:pt>
                <c:pt idx="17">
                  <c:v>10</c:v>
                </c:pt>
                <c:pt idx="18">
                  <c:v>17</c:v>
                </c:pt>
                <c:pt idx="19">
                  <c:v>3</c:v>
                </c:pt>
                <c:pt idx="20">
                  <c:v>17</c:v>
                </c:pt>
                <c:pt idx="21">
                  <c:v>2</c:v>
                </c:pt>
                <c:pt idx="22">
                  <c:v>5</c:v>
                </c:pt>
                <c:pt idx="23">
                  <c:v>1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7</c:v>
                </c:pt>
                <c:pt idx="29">
                  <c:v>13</c:v>
                </c:pt>
                <c:pt idx="30">
                  <c:v>12</c:v>
                </c:pt>
                <c:pt idx="31">
                  <c:v>3</c:v>
                </c:pt>
                <c:pt idx="32">
                  <c:v>9</c:v>
                </c:pt>
                <c:pt idx="33">
                  <c:v>0</c:v>
                </c:pt>
                <c:pt idx="34">
                  <c:v>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1</c:v>
                </c:pt>
                <c:pt idx="40">
                  <c:v>7</c:v>
                </c:pt>
                <c:pt idx="41">
                  <c:v>11</c:v>
                </c:pt>
                <c:pt idx="42">
                  <c:v>9</c:v>
                </c:pt>
                <c:pt idx="43">
                  <c:v>6</c:v>
                </c:pt>
                <c:pt idx="44">
                  <c:v>12</c:v>
                </c:pt>
                <c:pt idx="45">
                  <c:v>0</c:v>
                </c:pt>
                <c:pt idx="46">
                  <c:v>4</c:v>
                </c:pt>
                <c:pt idx="47">
                  <c:v>1</c:v>
                </c:pt>
                <c:pt idx="48">
                  <c:v>1</c:v>
                </c:pt>
                <c:pt idx="49">
                  <c:v>0</c:v>
                </c:pt>
                <c:pt idx="50">
                  <c:v>1</c:v>
                </c:pt>
                <c:pt idx="51">
                  <c:v>1</c:v>
                </c:pt>
                <c:pt idx="52">
                  <c:v>7</c:v>
                </c:pt>
                <c:pt idx="53">
                  <c:v>7</c:v>
                </c:pt>
                <c:pt idx="54">
                  <c:v>10</c:v>
                </c:pt>
                <c:pt idx="55">
                  <c:v>5</c:v>
                </c:pt>
                <c:pt idx="56">
                  <c:v>4</c:v>
                </c:pt>
                <c:pt idx="57">
                  <c:v>0</c:v>
                </c:pt>
                <c:pt idx="58">
                  <c:v>5</c:v>
                </c:pt>
                <c:pt idx="59">
                  <c:v>2</c:v>
                </c:pt>
                <c:pt idx="60">
                  <c:v>1</c:v>
                </c:pt>
                <c:pt idx="61">
                  <c:v>2</c:v>
                </c:pt>
                <c:pt idx="62">
                  <c:v>2</c:v>
                </c:pt>
                <c:pt idx="63">
                  <c:v>3</c:v>
                </c:pt>
                <c:pt idx="64">
                  <c:v>2</c:v>
                </c:pt>
                <c:pt idx="65">
                  <c:v>22</c:v>
                </c:pt>
                <c:pt idx="66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1DC-47A5-AF44-1392CC6AFB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Μήνας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w="9525">
              <a:solidFill>
                <a:srgbClr val="DC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l-GR" sz="1350">
                    <a:solidFill>
                      <a:srgbClr val="243B4D"/>
                    </a:solidFill>
                    <a:latin typeface="DejaVu Sans"/>
                    <a:ea typeface="DejaVu Sans"/>
                    <a:cs typeface="DejaVu Sans"/>
                  </a:rPr>
                  <a:t>Μηνύματα ανά μήνα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243B4D"/>
              </a:solidFill>
              <a:latin typeface="DejaVu Sans"/>
              <a:ea typeface="DejaVu Sans"/>
              <a:cs typeface="DejaVu Sans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E6B9ED3-8CEA-4FDA-9282-D056DA26AA68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B4A681A-2141-46F8-A755-53156814B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AE040E4-B844-4589-97AC-50CA4C717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FEA41298-145A-4B69-BCA9-9DF0E25934AB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0CF98DD4-88B2-459C-80CF-CDEA5E1D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E2A339C-7625-4293-A214-76A50B82764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702171A-D6AF-4108-AD06-6A760491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4E73DA85-F74B-4CFD-98F4-3512673F3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B4A5E359-F767-4346-9BA5-BDBCA094B44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D0FDFE9-DD02-40A2-8CCE-9EE2A094E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B9608EBA-671B-423C-BFB6-ACFBCEFCD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65C7C854-239D-4607-B855-FE0554122A2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E2F56C8-A371-4A5D-957E-353F40F29E9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C3FC65C-0012-4668-B1B0-4A4054EC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619D277F-1417-477F-B542-77A338356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317D381-0201-49D5-AEFF-3C205313419E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A9BDC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DC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A10C01-82A5-41EA-B19B-215ED480338D}"/>
              </a:ext>
            </a:extLst>
          </p:cNvPr>
          <p:cNvSpPr>
            <a:spLocks noGrp="1"/>
          </p:cNvSpPr>
          <p:nvPr/>
        </p:nvSpPr>
        <p:spPr>
          <a:xfrm>
            <a:off x="619125" y="1333500"/>
            <a:ext cx="10953750" cy="228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600"/>
            </a:defPPr>
          </a:lstStyle>
          <a:p>
            <a:pPr>
              <a:buNone/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Θεματική ανάλυση ιστορικού αρχείου tovima του Πανεπιστημίου Πατρών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FF03E3-F253-418E-8D13-E768933FAC60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105727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0">
                <a:solidFill>
                  <a:srgbClr val="CCDEE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CCDEE5"/>
                </a:solidFill>
                <a:latin typeface="DejaVu Sans"/>
                <a:ea typeface="DejaVu Sans"/>
                <a:cs typeface="DejaVu Sans"/>
              </a:rPr>
              <a:t>Ανεπίβλεπτη ανακάλυψη θεμάτων σε πανεπιστημιακά emails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D3A64F-723F-4B85-80FC-0F19ED38FDA3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8096250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Δημήτριος Περδικούρης</a:t>
            </a:r>
          </a:p>
          <a:p>
            <a:pPr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Επιβλέπων: Νικόλαος Αβούρης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AE9493-C9DB-40A8-A6BF-13AC6FB18C4A}"/>
              </a:ext>
            </a:extLst>
          </p:cNvPr>
          <p:cNvSpPr>
            <a:spLocks noGrp="1"/>
          </p:cNvSpPr>
          <p:nvPr/>
        </p:nvSpPr>
        <p:spPr>
          <a:xfrm>
            <a:off x="666750" y="5943600"/>
            <a:ext cx="80962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350" b="0">
                <a:solidFill>
                  <a:srgbClr val="A9BD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DC8"/>
                </a:solidFill>
                <a:latin typeface="DejaVu Sans"/>
                <a:ea typeface="DejaVu Sans"/>
                <a:cs typeface="DejaVu Sans"/>
              </a:rPr>
              <a:t>Πανεπιστήμιο Πατρών</a:t>
            </a:r>
          </a:p>
          <a:p>
            <a:pPr>
              <a:buNone/>
              <a:defRPr sz="1350" b="0">
                <a:solidFill>
                  <a:srgbClr val="A9BD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BDC8"/>
                </a:solidFill>
                <a:latin typeface="DejaVu Sans"/>
                <a:ea typeface="DejaVu Sans"/>
                <a:cs typeface="DejaVu Sans"/>
              </a:rPr>
              <a:t>Οκτώβριος 2026</a:t>
            </a:r>
          </a:p>
        </p:txBody>
      </p:sp>
    </p:spTree>
    <p:extLst>
      <p:ext uri="{BB962C8B-B14F-4D97-AF65-F5344CB8AC3E}">
        <p14:creationId xmlns:p14="http://schemas.microsoft.com/office/powerpoint/2010/main" val="203634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0459A4-9DE9-4E7D-AB11-FC8CE444DF3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Κίνητρο και ερευνητικό ερώτημα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6F3558-FC77-4E68-BF23-992ECCF2D771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AC8559-F6EC-42A6-AFAC-43FC893CC572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066800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0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Proof of concept για μελλοντική</a:t>
            </a:r>
          </a:p>
          <a:p>
            <a:pPr>
              <a:buNone/>
              <a:defRPr sz="30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υπηρεσία του Πανεπιστημίου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9C4CD5-DE00-42DA-B810-5B0DD6FD6D77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5048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Η ανάγκη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99F6F-66B0-4EB2-8205-BF3690BCD9CE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5048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Θεματική οργάνωση μεγάλου αρχείου emails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Χωρίς προκαθορισμένες ετικέτες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57BF61-47AD-4815-9289-24285C4D3E97}"/>
              </a:ext>
            </a:extLst>
          </p:cNvPr>
          <p:cNvSpPr>
            <a:spLocks noGrp="1"/>
          </p:cNvSpPr>
          <p:nvPr/>
        </p:nvSpPr>
        <p:spPr>
          <a:xfrm>
            <a:off x="6429375" y="3333750"/>
            <a:ext cx="5048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Η μελλοντική υπηρεσία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5B7160-70B6-4445-836C-BE17DA037B84}"/>
              </a:ext>
            </a:extLst>
          </p:cNvPr>
          <p:cNvSpPr>
            <a:spLocks noGrp="1"/>
          </p:cNvSpPr>
          <p:nvPr/>
        </p:nvSpPr>
        <p:spPr>
          <a:xfrm>
            <a:off x="6429375" y="3857625"/>
            <a:ext cx="5048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Σημασιολογική αναζήτηση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Θεματική πλοήγηση στο αρχείο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Παρακολούθηση ανακοινώσεων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A51222-84BC-478A-8A73-5F32ED992C85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Ερευνητικό ερώτημα: ανεπίβλεπτη ανακάλυψη συνεκτικών και ερμηνεύσιμων θεμάτων</a:t>
            </a:r>
          </a:p>
        </p:txBody>
      </p:sp>
    </p:spTree>
    <p:extLst>
      <p:ext uri="{BB962C8B-B14F-4D97-AF65-F5344CB8AC3E}">
        <p14:creationId xmlns:p14="http://schemas.microsoft.com/office/powerpoint/2010/main" val="1387123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994217F-F260-4D27-B0FC-367CF90A5A0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Τεχνολογία θεματικής ανάλυσης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C5590-CE5C-48E9-866C-28D4586A4321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7632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Η θεματική μοντελοποίηση οργανώνει μεγάλο όγκο κειμένων σε ομάδες με κοινό περιεχόμενο.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DCB8E8-4E53-4C4F-A789-72F897DE3EB1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Σημασιολογικές ενσωματώσεις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5A5420-B0CF-407A-B73F-25D547C5ACDA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495300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Ένα μοντέλο μετατρέπει κάθε μήνυμα σε αριθμητικό διάνυσμα. Κείμενα με παρόμοιο νόημα βρίσκονται κοντά στον χώρο των διανυσμάτων.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1777AD-F7D2-484B-A253-2D1CB7615E8C}"/>
              </a:ext>
            </a:extLst>
          </p:cNvPr>
          <p:cNvSpPr>
            <a:spLocks noGrp="1"/>
          </p:cNvSpPr>
          <p:nvPr/>
        </p:nvSpPr>
        <p:spPr>
          <a:xfrm>
            <a:off x="6477000" y="27146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Ανεπίβλεπτη συσταδοποίηση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98BD77-5708-4145-B634-72801E5D86AB}"/>
              </a:ext>
            </a:extLst>
          </p:cNvPr>
          <p:cNvSpPr>
            <a:spLocks noGrp="1"/>
          </p:cNvSpPr>
          <p:nvPr/>
        </p:nvSpPr>
        <p:spPr>
          <a:xfrm>
            <a:off x="6477000" y="3333750"/>
            <a:ext cx="495300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Ο αλγόριθμος εντοπίζει ομάδες χωρίς προκαθορισμένες ετικέτες. Οι λέξεις TF-IDF και η ανθρώπινη επιθεώρηση βοηθούν στην ονοματοδοσία τους.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947BB1-E5F5-4F3B-A46F-FC8EA5468122}"/>
              </a:ext>
            </a:extLst>
          </p:cNvPr>
          <p:cNvSpPr>
            <a:spLocks noGrp="1"/>
          </p:cNvSpPr>
          <p:nvPr/>
        </p:nvSpPr>
        <p:spPr>
          <a:xfrm>
            <a:off x="666750" y="5476875"/>
            <a:ext cx="10763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Στην εφαρμογή: BGE-M3, PCA, UMAP και HDBSCAN, με επιλογή παραμέτρων μέσω Optuna.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8CFB02-02D5-49DE-96B7-D5593296723A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3520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3E678D-81C6-4549-9A8D-1FC7FEBC2F6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Δεδομένα και χρονική κάλυψη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523116-EA0F-4C7C-AE43-936E814FF5A7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DC11FE18-AAFF-44A4-B71A-0D2F7C31D02A}"/>
              </a:ext>
            </a:extLst>
          </p:cNvPr>
          <p:cNvGraphicFramePr/>
          <p:nvPr/>
        </p:nvGraphicFramePr>
        <p:xfrm>
          <a:off x="666750" y="2190750"/>
          <a:ext cx="72390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D121407-0610-428D-816F-6BB3C59422FB}"/>
              </a:ext>
            </a:extLst>
          </p:cNvPr>
          <p:cNvSpPr>
            <a:spLocks noGrp="1"/>
          </p:cNvSpPr>
          <p:nvPr/>
        </p:nvSpPr>
        <p:spPr>
          <a:xfrm>
            <a:off x="8620125" y="2219325"/>
            <a:ext cx="295275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405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13.637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2EF2D5-3A5E-4E37-ABC6-44407CD3609C}"/>
              </a:ext>
            </a:extLst>
          </p:cNvPr>
          <p:cNvSpPr>
            <a:spLocks noGrp="1"/>
          </p:cNvSpPr>
          <p:nvPr/>
        </p:nvSpPr>
        <p:spPr>
          <a:xfrm>
            <a:off x="8620125" y="298132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τελικά μηνύματα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139059-D702-44C4-9A45-4DC2828DCDFA}"/>
              </a:ext>
            </a:extLst>
          </p:cNvPr>
          <p:cNvSpPr>
            <a:spLocks noGrp="1"/>
          </p:cNvSpPr>
          <p:nvPr/>
        </p:nvSpPr>
        <p:spPr>
          <a:xfrm>
            <a:off x="8620125" y="3829050"/>
            <a:ext cx="29527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14.277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στην αρχική συλλογή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2B7004-DF64-4CAA-B061-E09A2DC38C2D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2018–2022: π</a:t>
            </a: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λήρη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έτη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3648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NI_9_date">
            <a:extLst>
              <a:ext uri="{FF2B5EF4-FFF2-40B4-BE49-F238E27FC236}">
                <a16:creationId xmlns:a16="http://schemas.microsoft.com/office/drawing/2014/main" id="{0CE5A01B-9D1B-4124-A85B-15CF6CCD37DB}"/>
              </a:ext>
            </a:extLst>
          </p:cNvPr>
          <p:cNvSpPr>
            <a:spLocks noGrp="1"/>
          </p:cNvSpPr>
          <p:nvPr/>
        </p:nvSpPr>
        <p:spPr>
          <a:xfrm>
            <a:off x="666750" y="6572250"/>
            <a:ext cx="10382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buNone/>
              <a:defRPr sz="112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Η ημερομηνία χρησιμοποιείται μόνο στη χρονική ανάλυση.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3BE2B7-2328-467E-8717-06250E736FC8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1000" name="PipelineImageStage0_0" descr="Σταδιακή εμφάνιση της τελευταίας εικόνας του pipeline"/>
          <p:cNvPicPr>
            <a:picLocks noChangeAspect="1"/>
          </p:cNvPicPr>
          <p:nvPr/>
        </p:nvPicPr>
        <p:blipFill>
          <a:blip r:embed="rId2"/>
          <a:srcRect b="92676"/>
          <a:stretch>
            <a:fillRect/>
          </a:stretch>
        </p:blipFill>
        <p:spPr>
          <a:xfrm>
            <a:off x="1285875" y="76200"/>
            <a:ext cx="9620250" cy="469739"/>
          </a:xfrm>
          <a:prstGeom prst="rect">
            <a:avLst/>
          </a:prstGeom>
        </p:spPr>
      </p:pic>
      <p:pic>
        <p:nvPicPr>
          <p:cNvPr id="1001" name="PipelineImageStage1_1" descr="Σταδιακή εμφάνιση της τελευταίας εικόνας του pipeline"/>
          <p:cNvPicPr>
            <a:picLocks noChangeAspect="1"/>
          </p:cNvPicPr>
          <p:nvPr/>
        </p:nvPicPr>
        <p:blipFill>
          <a:blip r:embed="rId2"/>
          <a:srcRect t="7324" b="79004"/>
          <a:stretch>
            <a:fillRect/>
          </a:stretch>
        </p:blipFill>
        <p:spPr>
          <a:xfrm>
            <a:off x="1285875" y="545939"/>
            <a:ext cx="9620250" cy="876846"/>
          </a:xfrm>
          <a:prstGeom prst="rect">
            <a:avLst/>
          </a:prstGeom>
        </p:spPr>
      </p:pic>
      <p:pic>
        <p:nvPicPr>
          <p:cNvPr id="1002" name="PipelineImageStage2_2" descr="Σταδιακή εμφάνιση της τελευταίας εικόνας του pipeline"/>
          <p:cNvPicPr>
            <a:picLocks noChangeAspect="1"/>
          </p:cNvPicPr>
          <p:nvPr/>
        </p:nvPicPr>
        <p:blipFill>
          <a:blip r:embed="rId2"/>
          <a:srcRect t="20996" b="60449"/>
          <a:stretch>
            <a:fillRect/>
          </a:stretch>
        </p:blipFill>
        <p:spPr>
          <a:xfrm>
            <a:off x="1285875" y="1422784"/>
            <a:ext cx="9620250" cy="1190005"/>
          </a:xfrm>
          <a:prstGeom prst="rect">
            <a:avLst/>
          </a:prstGeom>
        </p:spPr>
      </p:pic>
      <p:pic>
        <p:nvPicPr>
          <p:cNvPr id="1003" name="PipelineImageStage3_3" descr="Σταδιακή εμφάνιση της τελευταίας εικόνας του pipeline"/>
          <p:cNvPicPr>
            <a:picLocks noChangeAspect="1"/>
          </p:cNvPicPr>
          <p:nvPr/>
        </p:nvPicPr>
        <p:blipFill>
          <a:blip r:embed="rId2"/>
          <a:srcRect t="39551" b="44727"/>
          <a:stretch>
            <a:fillRect/>
          </a:stretch>
        </p:blipFill>
        <p:spPr>
          <a:xfrm>
            <a:off x="1285875" y="2612789"/>
            <a:ext cx="9620250" cy="1008373"/>
          </a:xfrm>
          <a:prstGeom prst="rect">
            <a:avLst/>
          </a:prstGeom>
        </p:spPr>
      </p:pic>
      <p:pic>
        <p:nvPicPr>
          <p:cNvPr id="1004" name="PipelineImageStage4_4" descr="Σταδιακή εμφάνιση της τελευταίας εικόνας του pipeline"/>
          <p:cNvPicPr>
            <a:picLocks noChangeAspect="1"/>
          </p:cNvPicPr>
          <p:nvPr/>
        </p:nvPicPr>
        <p:blipFill>
          <a:blip r:embed="rId2"/>
          <a:srcRect t="55273" r="77083" b="21387"/>
          <a:stretch>
            <a:fillRect/>
          </a:stretch>
        </p:blipFill>
        <p:spPr>
          <a:xfrm>
            <a:off x="1285875" y="3621162"/>
            <a:ext cx="2204641" cy="1496901"/>
          </a:xfrm>
          <a:prstGeom prst="rect">
            <a:avLst/>
          </a:prstGeom>
        </p:spPr>
      </p:pic>
      <p:pic>
        <p:nvPicPr>
          <p:cNvPr id="1005" name="PipelineImageStage5_5" descr="Σταδιακή εμφάνιση της τελευταίας εικόνας του pipeline"/>
          <p:cNvPicPr>
            <a:picLocks noChangeAspect="1"/>
          </p:cNvPicPr>
          <p:nvPr/>
        </p:nvPicPr>
        <p:blipFill>
          <a:blip r:embed="rId2"/>
          <a:srcRect l="22917" t="55273" r="52474" b="21387"/>
          <a:stretch>
            <a:fillRect/>
          </a:stretch>
        </p:blipFill>
        <p:spPr>
          <a:xfrm>
            <a:off x="3490516" y="3621162"/>
            <a:ext cx="2367483" cy="1496901"/>
          </a:xfrm>
          <a:prstGeom prst="rect">
            <a:avLst/>
          </a:prstGeom>
        </p:spPr>
      </p:pic>
      <p:pic>
        <p:nvPicPr>
          <p:cNvPr id="1006" name="PipelineImageStage6_6" descr="Σταδιακή εμφάνιση της τελευταίας εικόνας του pipeline"/>
          <p:cNvPicPr>
            <a:picLocks noChangeAspect="1"/>
          </p:cNvPicPr>
          <p:nvPr/>
        </p:nvPicPr>
        <p:blipFill>
          <a:blip r:embed="rId2"/>
          <a:srcRect l="47526" t="55273" r="34896" b="21387"/>
          <a:stretch>
            <a:fillRect/>
          </a:stretch>
        </p:blipFill>
        <p:spPr>
          <a:xfrm>
            <a:off x="5857999" y="3621162"/>
            <a:ext cx="1691060" cy="1496901"/>
          </a:xfrm>
          <a:prstGeom prst="rect">
            <a:avLst/>
          </a:prstGeom>
        </p:spPr>
      </p:pic>
      <p:pic>
        <p:nvPicPr>
          <p:cNvPr id="1007" name="PipelineImageStage7_7" descr="Σταδιακή εμφάνιση της τελευταίας εικόνας του pipeline"/>
          <p:cNvPicPr>
            <a:picLocks noChangeAspect="1"/>
          </p:cNvPicPr>
          <p:nvPr/>
        </p:nvPicPr>
        <p:blipFill>
          <a:blip r:embed="rId2"/>
          <a:srcRect l="65104" t="55273" b="30078"/>
          <a:stretch>
            <a:fillRect/>
          </a:stretch>
        </p:blipFill>
        <p:spPr>
          <a:xfrm>
            <a:off x="7549059" y="3621162"/>
            <a:ext cx="3357066" cy="939478"/>
          </a:xfrm>
          <a:prstGeom prst="rect">
            <a:avLst/>
          </a:prstGeom>
        </p:spPr>
      </p:pic>
      <p:pic>
        <p:nvPicPr>
          <p:cNvPr id="1008" name="PipelineImageStage8_8" descr="Σταδιακή εμφάνιση της τελευταίας εικόνας του pipeline"/>
          <p:cNvPicPr>
            <a:picLocks noChangeAspect="1"/>
          </p:cNvPicPr>
          <p:nvPr/>
        </p:nvPicPr>
        <p:blipFill>
          <a:blip r:embed="rId2"/>
          <a:srcRect l="65104" t="69922" b="21387"/>
          <a:stretch>
            <a:fillRect/>
          </a:stretch>
        </p:blipFill>
        <p:spPr>
          <a:xfrm>
            <a:off x="7549059" y="4560639"/>
            <a:ext cx="3357066" cy="557423"/>
          </a:xfrm>
          <a:prstGeom prst="rect">
            <a:avLst/>
          </a:prstGeom>
        </p:spPr>
      </p:pic>
      <p:pic>
        <p:nvPicPr>
          <p:cNvPr id="1009" name="PipelineImageStage8_9" descr="Σταδιακή εμφάνιση της τελευταίας εικόνας του pipeline"/>
          <p:cNvPicPr>
            <a:picLocks noChangeAspect="1"/>
          </p:cNvPicPr>
          <p:nvPr/>
        </p:nvPicPr>
        <p:blipFill>
          <a:blip r:embed="rId2"/>
          <a:srcRect t="78613" b="14258"/>
          <a:stretch>
            <a:fillRect/>
          </a:stretch>
        </p:blipFill>
        <p:spPr>
          <a:xfrm>
            <a:off x="1285875" y="5118063"/>
            <a:ext cx="9620250" cy="457212"/>
          </a:xfrm>
          <a:prstGeom prst="rect">
            <a:avLst/>
          </a:prstGeom>
        </p:spPr>
      </p:pic>
      <p:pic>
        <p:nvPicPr>
          <p:cNvPr id="1010" name="PipelineImageStage9_10" descr="Σταδιακή εμφάνιση της τελευταίας εικόνας του pipeline"/>
          <p:cNvPicPr>
            <a:picLocks noChangeAspect="1"/>
          </p:cNvPicPr>
          <p:nvPr/>
        </p:nvPicPr>
        <p:blipFill>
          <a:blip r:embed="rId2"/>
          <a:srcRect t="85742"/>
          <a:stretch>
            <a:fillRect/>
          </a:stretch>
        </p:blipFill>
        <p:spPr>
          <a:xfrm>
            <a:off x="1285875" y="5575275"/>
            <a:ext cx="9620250" cy="9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3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0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0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0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0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0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0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5242BC-6961-4A41-843F-AE58018DC03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lang="el-GR" sz="3150" b="1" dirty="0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Οι βασικές τεχνολογίες της ροής</a:t>
            </a:r>
            <a:endParaRPr sz="3150" b="1" dirty="0">
              <a:solidFill>
                <a:srgbClr val="142D4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4659F-6342-4D9F-9559-138E200AF76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BGE-M3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B35E3B-1D73-4EEB-B689-0AC447998B3B}"/>
              </a:ext>
            </a:extLst>
          </p:cNvPr>
          <p:cNvSpPr>
            <a:spLocks noGrp="1"/>
          </p:cNvSpPr>
          <p:nvPr/>
        </p:nvSpPr>
        <p:spPr>
          <a:xfrm>
            <a:off x="3667125" y="1495425"/>
            <a:ext cx="776287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Υποστήριξη ελληνικού και αγγλικού κειμένου. Μικρότερη επικάλυψη ίδιων/διαφορετικών θεμάτων από το Qwen3 στο τοπικό πείραμα.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AA21D1-3C45-46A3-A852-22A1D8F54A4C}"/>
              </a:ext>
            </a:extLst>
          </p:cNvPr>
          <p:cNvSpPr>
            <a:spLocks noGrp="1"/>
          </p:cNvSpPr>
          <p:nvPr/>
        </p:nvSpPr>
        <p:spPr>
          <a:xfrm>
            <a:off x="666750" y="263842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PCA και UMAP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5756AF-1CE5-4D20-8391-8A094F40B1DA}"/>
              </a:ext>
            </a:extLst>
          </p:cNvPr>
          <p:cNvSpPr>
            <a:spLocks noGrp="1"/>
          </p:cNvSpPr>
          <p:nvPr/>
        </p:nvSpPr>
        <p:spPr>
          <a:xfrm>
            <a:off x="3667125" y="2609850"/>
            <a:ext cx="776287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Το PCA μειώνει το κόστος υπολογισμού. Το UMAP αναδεικνύει μη γραμμική δομή πριν από τη συσταδοποίηση.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7B727C-4DCC-45DB-88ED-9FF231AEF06D}"/>
              </a:ext>
            </a:extLst>
          </p:cNvPr>
          <p:cNvSpPr>
            <a:spLocks noGrp="1"/>
          </p:cNvSpPr>
          <p:nvPr/>
        </p:nvSpPr>
        <p:spPr>
          <a:xfrm>
            <a:off x="666750" y="375285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HDBSCAN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C52AA9-D398-407F-941C-2FF17AA8A9F7}"/>
              </a:ext>
            </a:extLst>
          </p:cNvPr>
          <p:cNvSpPr>
            <a:spLocks noGrp="1"/>
          </p:cNvSpPr>
          <p:nvPr/>
        </p:nvSpPr>
        <p:spPr>
          <a:xfrm>
            <a:off x="3667125" y="3724275"/>
            <a:ext cx="776287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Δεν απαιτεί προκαθορισμένο πλήθος συστάδων και επιτρέπει μη ανατεθειμένα μηνύματα σε αραιές περιοχές.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1BAADB-108F-47B0-B2F5-D5782A542A56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Optuna και TF-IDF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8E5919-B4B2-4C02-953D-97A71E9DED29}"/>
              </a:ext>
            </a:extLst>
          </p:cNvPr>
          <p:cNvSpPr>
            <a:spLocks noGrp="1"/>
          </p:cNvSpPr>
          <p:nvPr/>
        </p:nvSpPr>
        <p:spPr>
          <a:xfrm>
            <a:off x="3667125" y="4838700"/>
            <a:ext cx="776287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Η Optuna επιλέγει παραμέτρους με κριτήριο τη συνοχή και ποινές θορύβου/κατακερματισμού. Το TF-IDF δίνει όρους για ερμηνεία και ονοματοδοσία.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B6D1B2-9E6A-4120-B1E2-3F6A8C86517C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6002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7C9E3B-C5A2-49E0-98C6-2C04A2FAA7B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Δύο αναπαραστάσεις του κειμένου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0F5A2E-3BDE-4394-9383-28C0D4D86E8F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355FD1-F286-43F3-B2D2-D8DC82D6DA3B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5048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embedding_text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624505-E62C-4C6C-9A9D-217D2059DCEA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048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Φυσικό κείμενο με διατήρηση συμφραζομένων</a:t>
            </a:r>
          </a:p>
          <a:p>
            <a:endParaRPr sz="1875" b="0">
              <a:solidFill>
                <a:srgbClr val="243B4D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Είσοδος στο BGE-M3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753261-4887-4E98-8B8B-867C0AC2A054}"/>
              </a:ext>
            </a:extLst>
          </p:cNvPr>
          <p:cNvSpPr>
            <a:spLocks noGrp="1"/>
          </p:cNvSpPr>
          <p:nvPr/>
        </p:nvSpPr>
        <p:spPr>
          <a:xfrm>
            <a:off x="6429375" y="1619250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cleaned_text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32A24C-08FB-4ABF-A6EB-85AB5EB804BB}"/>
              </a:ext>
            </a:extLst>
          </p:cNvPr>
          <p:cNvSpPr>
            <a:spLocks noGrp="1"/>
          </p:cNvSpPr>
          <p:nvPr/>
        </p:nvSpPr>
        <p:spPr>
          <a:xfrm>
            <a:off x="6429375" y="2143125"/>
            <a:ext cx="5095875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Λημματοποίηση και αφαίρεση stopwords</a:t>
            </a:r>
          </a:p>
          <a:p>
            <a:endParaRPr sz="1875" b="0">
              <a:solidFill>
                <a:srgbClr val="243B4D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Είσοδος σε TF-IDF και NPMI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21D193-A66C-4BFB-AD40-9523393F8084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Καθαρισμός δομικού θορύβου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A60E20-2807-4968-9DF9-726587390BD9}"/>
              </a:ext>
            </a:extLst>
          </p:cNvPr>
          <p:cNvSpPr>
            <a:spLocks noGrp="1"/>
          </p:cNvSpPr>
          <p:nvPr/>
        </p:nvSpPr>
        <p:spPr>
          <a:xfrm>
            <a:off x="666750" y="4752975"/>
            <a:ext cx="51435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Αφαίρεση ετικετών HTML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Φιλτράρισμα υπολειμμάτων HTML/CSS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11D938-E967-4AA3-BCD8-EA04A922B044}"/>
              </a:ext>
            </a:extLst>
          </p:cNvPr>
          <p:cNvSpPr>
            <a:spLocks noGrp="1"/>
          </p:cNvSpPr>
          <p:nvPr/>
        </p:nvSpPr>
        <p:spPr>
          <a:xfrm>
            <a:off x="6429375" y="4752975"/>
            <a:ext cx="509587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Αφαίρεση URL και γραμμών παράθεσης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Συντηρητικός καθαρισμός υπογραφών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C80A9-E075-45B6-BB5D-DE787AD99F57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Καθαρισμός με διατήρηση του ουσιαστικού περιεχομένου των μηνυμάτων</a:t>
            </a:r>
          </a:p>
        </p:txBody>
      </p:sp>
    </p:spTree>
    <p:extLst>
      <p:ext uri="{BB962C8B-B14F-4D97-AF65-F5344CB8AC3E}">
        <p14:creationId xmlns:p14="http://schemas.microsoft.com/office/powerpoint/2010/main" val="2013180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918360-3FDE-4366-9924-16E0B992185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Σημασιολογικές ενσωματώσεις BGE-M3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D712B9-DEC1-4ADF-BD60-FD10839728BC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DAACFB-DB82-433C-87C9-C3F342C4DD1A}"/>
              </a:ext>
            </a:extLst>
          </p:cNvPr>
          <p:cNvGraphicFramePr/>
          <p:nvPr/>
        </p:nvGraphicFramePr>
        <p:xfrm>
          <a:off x="666750" y="1666875"/>
          <a:ext cx="10763250" cy="2047875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Μοντέλο</a:t>
                      </a:r>
                    </a:p>
                  </a:txBody>
                  <a:tcPr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Χάσμα ομοιότητας</a:t>
                      </a:r>
                    </a:p>
                  </a:txBody>
                  <a:tcPr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Επικάλυψη</a:t>
                      </a:r>
                    </a:p>
                  </a:txBody>
                  <a:tcPr>
                    <a:solidFill>
                      <a:srgbClr val="14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Qwen3-Embedding-4B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0,130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0,179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BGE-M3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D9E7930-DA59-4750-8AF5-C66A51D746AC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100012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85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1.024 διαστάσεις ανά μήνυμα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D2D82E-B57A-4B62-A3B8-0E0E455CCE19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13.637 διανύσματα μέσω Ollama σε CPU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13AFB5-1E71-446C-B871-B1038BA7FE20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Έλεγχος 30 ζευγών γνωστής θεματικής σχέσης.</a:t>
            </a:r>
          </a:p>
        </p:txBody>
      </p:sp>
    </p:spTree>
    <p:extLst>
      <p:ext uri="{BB962C8B-B14F-4D97-AF65-F5344CB8AC3E}">
        <p14:creationId xmlns:p14="http://schemas.microsoft.com/office/powerpoint/2010/main" val="772471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409EC8E-D2CC-49EA-870A-17169986EBE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Συσταδοποίηση και επιλογή παραμέτρων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D77C04-2071-4D22-A14A-B79163CF41F2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E79609-15B9-4000-B162-57F2AE689AD2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6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PCA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B799E3-E576-4837-9A02-6FC89E17C3F0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1.024 σε 256 διαστάσεις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87,7% διακύμανσης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670810-CA54-4A0F-80A2-F3E9F0D18496}"/>
              </a:ext>
            </a:extLst>
          </p:cNvPr>
          <p:cNvSpPr>
            <a:spLocks noGrp="1"/>
          </p:cNvSpPr>
          <p:nvPr/>
        </p:nvSpPr>
        <p:spPr>
          <a:xfrm>
            <a:off x="4333875" y="17811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6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UMAP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F0DCA5-CABF-411A-BB6A-7AF3B7113A0F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3190875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256 σε 13 διαστάσεις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Μετρική cosine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88EF80-9973-498D-A6B8-3625282AAA53}"/>
              </a:ext>
            </a:extLst>
          </p:cNvPr>
          <p:cNvSpPr>
            <a:spLocks noGrp="1"/>
          </p:cNvSpPr>
          <p:nvPr/>
        </p:nvSpPr>
        <p:spPr>
          <a:xfrm>
            <a:off x="8001000" y="178117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6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HDBSCAN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33CB82-89D0-4FA7-BBC8-876C81739C94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Ομάδες πυκνότητας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Μετρική Euclidean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A181E8-DCED-488E-805B-7D8FB94921CF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92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200 δοκιμές Optuna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12820C-0703-4A7B-8A1C-484DD0D57480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95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Σημασιολογική συνοχή στα αρχικά διανύσματα</a:t>
            </a:r>
          </a:p>
          <a:p>
            <a:pPr>
              <a:buNone/>
              <a:defRPr sz="195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Ποινές για υψηλό θόρυβο και κατακερματισμό</a:t>
            </a:r>
          </a:p>
        </p:txBody>
      </p:sp>
    </p:spTree>
    <p:extLst>
      <p:ext uri="{BB962C8B-B14F-4D97-AF65-F5344CB8AC3E}">
        <p14:creationId xmlns:p14="http://schemas.microsoft.com/office/powerpoint/2010/main" val="1704954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42A6D2-0239-4F22-819C-246B16B0DC0B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Μετεπεξεργασία και ονοματοδοσία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865251-8399-4C43-8CAC-0037FB82540A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2B8C5-D6D4-4589-B753-C7E6F3E8B125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5048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116 σε 107 συστάδες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307431-4EC9-4A57-BA6F-F2B79CBEAC26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048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Συγχώνευση όταν η ομοιότητα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κεντροειδών υπερβαίνει το 0,92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1DA6E-D164-4C27-9F03-4FEF51478BF3}"/>
              </a:ext>
            </a:extLst>
          </p:cNvPr>
          <p:cNvSpPr>
            <a:spLocks noGrp="1"/>
          </p:cNvSpPr>
          <p:nvPr/>
        </p:nvSpPr>
        <p:spPr>
          <a:xfrm>
            <a:off x="6429375" y="1619250"/>
            <a:ext cx="5048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96 αναθέσεις θορύβου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F770F-6E1B-461D-890C-A1D523DAB40B}"/>
              </a:ext>
            </a:extLst>
          </p:cNvPr>
          <p:cNvSpPr>
            <a:spLocks noGrp="1"/>
          </p:cNvSpPr>
          <p:nvPr/>
        </p:nvSpPr>
        <p:spPr>
          <a:xfrm>
            <a:off x="6429375" y="2143125"/>
            <a:ext cx="50482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Από 2.107 μη ανατεθειμένα μηνύματα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με αυστηρά κριτήρια ομοιότητας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4EFF8E-0E9F-4EB4-9046-AC098EF84645}"/>
              </a:ext>
            </a:extLst>
          </p:cNvPr>
          <p:cNvSpPr>
            <a:spLocks noGrp="1"/>
          </p:cNvSpPr>
          <p:nvPr/>
        </p:nvSpPr>
        <p:spPr>
          <a:xfrm>
            <a:off x="666750" y="41338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32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TF-IDF και θέματα μηνυμάτων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EFFA48-2E27-4867-9B39-13C2FBE3AEA5}"/>
              </a:ext>
            </a:extLst>
          </p:cNvPr>
          <p:cNvSpPr>
            <a:spLocks noGrp="1"/>
          </p:cNvSpPr>
          <p:nvPr/>
        </p:nvSpPr>
        <p:spPr>
          <a:xfrm>
            <a:off x="666750" y="48196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7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Χειροκίνητη ονοματοδοσία δύο επιπέδων</a:t>
            </a:r>
          </a:p>
          <a:p>
            <a:pPr>
              <a:buNone/>
              <a:defRPr sz="217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107 συστάδες και 16 κύριες θεματικές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D0724C-7381-401A-83AB-2CB6BADFCDF4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endParaRPr sz="1275" b="0" dirty="0">
              <a:solidFill>
                <a:srgbClr val="607482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459591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C99E117-7299-46C2-8DC3-91B82947B77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00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Παραδείγματα όρων TF-IDF και ονοματοδοσίας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2DC378-549C-4BB5-8E34-47B0FEB174B3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5048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Συστάδα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608B78-1BF7-4B46-987F-56E1152F6910}"/>
              </a:ext>
            </a:extLst>
          </p:cNvPr>
          <p:cNvSpPr>
            <a:spLocks noGrp="1"/>
          </p:cNvSpPr>
          <p:nvPr/>
        </p:nvSpPr>
        <p:spPr>
          <a:xfrm>
            <a:off x="666750" y="1876425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rapid test, test covid, covid</a:t>
            </a:r>
          </a:p>
          <a:p>
            <a: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εοδυ φοιτητης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B7FE8A-0F17-4702-90F5-1C0A5AE8806E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50958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COVID-19 Rapid Testing on Campus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A7DFC3-83AC-46A0-ACEE-6D94C51A69DC}"/>
              </a:ext>
            </a:extLst>
          </p:cNvPr>
          <p:cNvSpPr>
            <a:spLocks noGrp="1"/>
          </p:cNvSpPr>
          <p:nvPr/>
        </p:nvSpPr>
        <p:spPr>
          <a:xfrm>
            <a:off x="6429375" y="1476375"/>
            <a:ext cx="5048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Συστάδα 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0D9EEC-10CF-4A29-806C-E0ECC71110A3}"/>
              </a:ext>
            </a:extLst>
          </p:cNvPr>
          <p:cNvSpPr>
            <a:spLocks noGrp="1"/>
          </p:cNvSpPr>
          <p:nvPr/>
        </p:nvSpPr>
        <p:spPr>
          <a:xfrm>
            <a:off x="6429375" y="1876425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 err="1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διδ</a:t>
            </a:r>
            <a:r>
              <a:rPr sz="1725" b="0" dirty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ακτορικης διατριβης, υποστηριξη</a:t>
            </a:r>
          </a:p>
          <a:p>
            <a: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υπ</a:t>
            </a:r>
            <a:r>
              <a:rPr sz="1725" b="0" dirty="0" err="1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οστηριξη</a:t>
            </a:r>
            <a:r>
              <a:rPr sz="1725" b="0" dirty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 dirty="0" err="1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διδ</a:t>
            </a:r>
            <a:r>
              <a:rPr sz="1725" b="0" dirty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ακτορικης, δημοσια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7308B2-9E54-4655-B50D-1FF7B4594B55}"/>
              </a:ext>
            </a:extLst>
          </p:cNvPr>
          <p:cNvSpPr>
            <a:spLocks noGrp="1"/>
          </p:cNvSpPr>
          <p:nvPr/>
        </p:nvSpPr>
        <p:spPr>
          <a:xfrm>
            <a:off x="6429375" y="2857500"/>
            <a:ext cx="50958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PhD Defense Announcements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08BF4-FA1C-4620-B130-EAD34AA1E30B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5048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Συστάδα 66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6E0412-CA9F-491E-AD85-24C3FCEB3D6E}"/>
              </a:ext>
            </a:extLst>
          </p:cNvPr>
          <p:cNvSpPr>
            <a:spLocks noGrp="1"/>
          </p:cNvSpPr>
          <p:nvPr/>
        </p:nvSpPr>
        <p:spPr>
          <a:xfrm>
            <a:off x="666750" y="4114800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 err="1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ευχες</a:t>
            </a:r>
            <a:r>
              <a:rPr sz="1725" b="0" dirty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, πα</a:t>
            </a:r>
            <a:r>
              <a:rPr sz="1725" b="0" dirty="0" err="1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σχ</a:t>
            </a:r>
            <a:r>
              <a:rPr sz="1725" b="0" dirty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α, ανασταση</a:t>
            </a:r>
          </a:p>
          <a:p>
            <a: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κα</a:t>
            </a:r>
            <a:r>
              <a:rPr sz="1725" b="0" dirty="0" err="1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λη</a:t>
            </a:r>
            <a:r>
              <a:rPr sz="1725" b="0" dirty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 ανα</a:t>
            </a:r>
            <a:r>
              <a:rPr sz="1725" b="0" dirty="0" err="1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στ</a:t>
            </a:r>
            <a:r>
              <a:rPr sz="1725" b="0" dirty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αση, καλο πασχα, χριστουγεννα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949A99-34F4-4E9B-AAF4-7DC807B81924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50958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dirty="0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Holiday Greetings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B74B5D-1518-41DE-A5D5-917499B5C4FC}"/>
              </a:ext>
            </a:extLst>
          </p:cNvPr>
          <p:cNvSpPr>
            <a:spLocks noGrp="1"/>
          </p:cNvSpPr>
          <p:nvPr/>
        </p:nvSpPr>
        <p:spPr>
          <a:xfrm>
            <a:off x="6429375" y="3714750"/>
            <a:ext cx="5048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Συστάδα 99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819819-6E2F-42CA-8CC4-0AEDA80DE783}"/>
              </a:ext>
            </a:extLst>
          </p:cNvPr>
          <p:cNvSpPr>
            <a:spLocks noGrp="1"/>
          </p:cNvSpPr>
          <p:nvPr/>
        </p:nvSpPr>
        <p:spPr>
          <a:xfrm>
            <a:off x="6429375" y="4114800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πρυτανικος εκλογη, εκλογη</a:t>
            </a:r>
          </a:p>
          <a:p>
            <a:pPr>
              <a:def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πρυτανης, πρυτανικες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20FA2E-602E-45EE-8707-FA7BCCF32A95}"/>
              </a:ext>
            </a:extLst>
          </p:cNvPr>
          <p:cNvSpPr>
            <a:spLocks noGrp="1"/>
          </p:cNvSpPr>
          <p:nvPr/>
        </p:nvSpPr>
        <p:spPr>
          <a:xfrm>
            <a:off x="6429375" y="5095875"/>
            <a:ext cx="50958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dirty="0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Rector Elections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9A5919-80DF-4D88-A0C8-A4EB8D86C600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5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Ενδεικτικοί</a:t>
            </a:r>
            <a:r>
              <a:rPr sz="1350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350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όροι</a:t>
            </a:r>
            <a:r>
              <a:rPr sz="1350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 TF-ID</a:t>
            </a:r>
            <a:r>
              <a:rPr lang="en-US" sz="1350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F</a:t>
            </a:r>
            <a:endParaRPr sz="1350" b="0" dirty="0">
              <a:solidFill>
                <a:srgbClr val="60748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0D40D9-6CE2-4ADB-A9F8-760DAECD4B10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7106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5456C5-EF6F-42A3-A0C3-0B899726B49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Η τελική θεματική οργάνωση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D716A7-2846-4911-8D57-349EFDEC073F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16D6ADD3-DA4A-4477-8E79-A17874098507}"/>
              </a:ext>
            </a:extLst>
          </p:cNvPr>
          <p:cNvGraphicFramePr/>
          <p:nvPr/>
        </p:nvGraphicFramePr>
        <p:xfrm>
          <a:off x="571500" y="1571625"/>
          <a:ext cx="790575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D473110-5EA3-447B-8F66-74379C4FE86D}"/>
              </a:ext>
            </a:extLst>
          </p:cNvPr>
          <p:cNvSpPr>
            <a:spLocks noGrp="1"/>
          </p:cNvSpPr>
          <p:nvPr/>
        </p:nvSpPr>
        <p:spPr>
          <a:xfrm>
            <a:off x="9191625" y="1733550"/>
            <a:ext cx="2381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435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107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9F438-F134-45A4-80BB-203FD82F50E0}"/>
              </a:ext>
            </a:extLst>
          </p:cNvPr>
          <p:cNvSpPr>
            <a:spLocks noGrp="1"/>
          </p:cNvSpPr>
          <p:nvPr/>
        </p:nvSpPr>
        <p:spPr>
          <a:xfrm>
            <a:off x="9191625" y="2466975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συστάδες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FF3EF-A698-4890-8FBB-257814AA2687}"/>
              </a:ext>
            </a:extLst>
          </p:cNvPr>
          <p:cNvSpPr>
            <a:spLocks noGrp="1"/>
          </p:cNvSpPr>
          <p:nvPr/>
        </p:nvSpPr>
        <p:spPr>
          <a:xfrm>
            <a:off x="9191625" y="32575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405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838AC6-227A-4BE9-BCDA-D057326AFBE5}"/>
              </a:ext>
            </a:extLst>
          </p:cNvPr>
          <p:cNvSpPr>
            <a:spLocks noGrp="1"/>
          </p:cNvSpPr>
          <p:nvPr/>
        </p:nvSpPr>
        <p:spPr>
          <a:xfrm>
            <a:off x="9191625" y="3933825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κύριες θεματικές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793E4-2F15-47F2-ABC6-1518B13A1150}"/>
              </a:ext>
            </a:extLst>
          </p:cNvPr>
          <p:cNvSpPr>
            <a:spLocks noGrp="1"/>
          </p:cNvSpPr>
          <p:nvPr/>
        </p:nvSpPr>
        <p:spPr>
          <a:xfrm>
            <a:off x="9191625" y="4838700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14,7%</a:t>
            </a:r>
          </a:p>
          <a:p>
            <a:pPr>
              <a:buNone/>
              <a:defRPr sz="187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μη ανατεθειμένα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7CA3EF-D911-4078-8B46-CB9D400E01E1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Οκτώ μεγαλύτερες κύριες θεματικές. Ο θόρυβος περιλαμβάνει 2.011 μηνύματα</a:t>
            </a:r>
          </a:p>
        </p:txBody>
      </p:sp>
    </p:spTree>
    <p:extLst>
      <p:ext uri="{BB962C8B-B14F-4D97-AF65-F5344CB8AC3E}">
        <p14:creationId xmlns:p14="http://schemas.microsoft.com/office/powerpoint/2010/main" val="587359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3568D0-F346-4599-8D9C-D8B97A9AD309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Οι 16 κύριες θεματικές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E4B853-1845-4BDF-862C-8C6D8DC14BBB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73BA8DA-3752-42C4-8358-2CFA29D54D20}"/>
              </a:ext>
            </a:extLst>
          </p:cNvPr>
          <p:cNvGraphicFramePr/>
          <p:nvPr/>
        </p:nvGraphicFramePr>
        <p:xfrm>
          <a:off x="571500" y="1400175"/>
          <a:ext cx="5334000" cy="428625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Κύρια θεματική</a:t>
                      </a:r>
                    </a:p>
                  </a:txBody>
                  <a:tcPr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Μηνύματα</a:t>
                      </a:r>
                    </a:p>
                  </a:txBody>
                  <a:tcPr>
                    <a:solidFill>
                      <a:srgbClr val="14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Academic Events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3.596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University Administration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Campus Life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1.296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Labour &amp; Union Affairs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Research &amp; Funding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871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Elections &amp;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Health &amp; Welfare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684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Infrastructure &amp; Digital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Ανατεθειμένα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11.626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7D57BB0-30A4-447F-81C5-9C80A17365AC}"/>
              </a:ext>
            </a:extLst>
          </p:cNvPr>
          <p:cNvGraphicFramePr/>
          <p:nvPr/>
        </p:nvGraphicFramePr>
        <p:xfrm>
          <a:off x="6238875" y="1400175"/>
          <a:ext cx="5334000" cy="428625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Κύρια θεματική</a:t>
                      </a:r>
                    </a:p>
                  </a:txBody>
                  <a:tcPr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Μηνύματα</a:t>
                      </a:r>
                    </a:p>
                  </a:txBody>
                  <a:tcPr>
                    <a:solidFill>
                      <a:srgbClr val="14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Informal Discussion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444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Postgraduate Programmes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Innovation &amp; Entrepreneurship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257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University Rankings &amp; Distinctions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Miscellaneous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179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Continuing Education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Gender Equality &amp; Inclusion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69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International Programmes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Μη ανατεθειμένα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2.011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FB544CF-7AF0-42CA-B4F9-E572FD94DB69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16 κύριες θεματικές, 11.626 ανατεθειμένα και 2.011 μη ανατεθειμένα μηνύματα</a:t>
            </a:r>
          </a:p>
        </p:txBody>
      </p:sp>
    </p:spTree>
    <p:extLst>
      <p:ext uri="{BB962C8B-B14F-4D97-AF65-F5344CB8AC3E}">
        <p14:creationId xmlns:p14="http://schemas.microsoft.com/office/powerpoint/2010/main" val="1448505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1A66B1-734F-4922-915E-B055D35840C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Οπτική εξέταση των συστάδων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CBCE9D-B046-465D-97A3-A1E8C736B56D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A01C88-BE22-4ED2-BDCD-6F5BD7661B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000" b="25000"/>
          <a:stretch/>
        </p:blipFill>
        <p:spPr>
          <a:xfrm>
            <a:off x="619125" y="1381125"/>
            <a:ext cx="8239125" cy="34766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2187BD-F0F1-4667-8282-4FBAB713EB1E}"/>
              </a:ext>
            </a:extLst>
          </p:cNvPr>
          <p:cNvSpPr>
            <a:spLocks noGrp="1"/>
          </p:cNvSpPr>
          <p:nvPr/>
        </p:nvSpPr>
        <p:spPr>
          <a:xfrm>
            <a:off x="666750" y="5181600"/>
            <a:ext cx="8096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72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Χρώματα ανά κύρια θεματική</a:t>
            </a:r>
          </a:p>
          <a:p>
            <a:pPr>
              <a:buNone/>
              <a:defRPr sz="172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Γκρι: μη ανατεθειμένα μηνύματα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E81CFC-18DD-4682-AFAD-2DA2769EC5B6}"/>
              </a:ext>
            </a:extLst>
          </p:cNvPr>
          <p:cNvSpPr>
            <a:spLocks noGrp="1"/>
          </p:cNvSpPr>
          <p:nvPr/>
        </p:nvSpPr>
        <p:spPr>
          <a:xfrm>
            <a:off x="9382125" y="19621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32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13D σε 2D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15C143-C20F-445B-9BE8-1521B9BA4CC8}"/>
              </a:ext>
            </a:extLst>
          </p:cNvPr>
          <p:cNvSpPr>
            <a:spLocks noGrp="1"/>
          </p:cNvSpPr>
          <p:nvPr/>
        </p:nvSpPr>
        <p:spPr>
          <a:xfrm>
            <a:off x="9382125" y="2695575"/>
            <a:ext cx="2524125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95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60,7%</a:t>
            </a:r>
          </a:p>
          <a:p>
            <a:pPr>
              <a:buNone/>
              <a:defRPr sz="195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της διακύμανσης</a:t>
            </a:r>
          </a:p>
          <a:p>
            <a:pPr>
              <a:buNone/>
              <a:defRPr sz="195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στην προβολή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FB28C-9892-4C1B-9164-156FC08066CE}"/>
              </a:ext>
            </a:extLst>
          </p:cNvPr>
          <p:cNvSpPr>
            <a:spLocks noGrp="1"/>
          </p:cNvSpPr>
          <p:nvPr/>
        </p:nvSpPr>
        <p:spPr>
          <a:xfrm>
            <a:off x="9382125" y="4505325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0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Η εικόνα αποτελεί</a:t>
            </a:r>
          </a:p>
          <a:p>
            <a:pPr>
              <a:buNone/>
              <a:defRPr sz="180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εργαλείο εξερεύνησης</a:t>
            </a:r>
          </a:p>
        </p:txBody>
      </p:sp>
    </p:spTree>
    <p:extLst>
      <p:ext uri="{BB962C8B-B14F-4D97-AF65-F5344CB8AC3E}">
        <p14:creationId xmlns:p14="http://schemas.microsoft.com/office/powerpoint/2010/main" val="696060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25E9A4-9B40-47D4-8449-1C684A11906D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Σημασιολογική συνοχή και NPMI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60F78A-3EC4-4E4C-B6DC-B24563DA104D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Σημασιολογική συνοχή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101AFB-631E-474B-BC54-6426C515F1D7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Σε κάθε συστάδα: διάμεσος της συνημιτονικής ομοιότητας των αρχικών διανυσμάτων BGE-M3 με το κεντροειδές της. Συνολικά: μέσος όρος σταθμισμένος με το μέγεθος της συστάδας.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CB0273-CB88-45FF-8341-3C0FCCA4FAE7}"/>
              </a:ext>
            </a:extLst>
          </p:cNvPr>
          <p:cNvSpPr>
            <a:spLocks noGrp="1"/>
          </p:cNvSpPr>
          <p:nvPr/>
        </p:nvSpPr>
        <p:spPr>
          <a:xfrm>
            <a:off x="666750" y="338137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NPMI: κανονικοποιημένη σημειακή αμοιβαία πληροφορία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1D64B7-DD36-4724-A2F5-97436D836135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NPMI(wᵢ, wⱼ) = ln[p(wᵢ,wⱼ) / (p(wᵢ)p(wⱼ))] / −ln p(wᵢ,wⱼ)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F47DC-4CC1-48E3-8DDD-2585F520CBFE}"/>
              </a:ext>
            </a:extLst>
          </p:cNvPr>
          <p:cNvSpPr>
            <a:spLocks noGrp="1"/>
          </p:cNvSpPr>
          <p:nvPr/>
        </p:nvSpPr>
        <p:spPr>
          <a:xfrm>
            <a:off x="666750" y="4648200"/>
            <a:ext cx="1076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Μετρά τη συνεμφάνιση των έως 10 συχνότερων όρων κάθε συστάδας μέσα στο ίδιο μήνυμα. Οι πιθανότητες εκτιμώνται στο κοινό σώμα των 13.637 μηνυμάτων.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44516-0A97-4B0D-870C-1405506A4706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65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NPMI: −1 έως 1. Μηδέν: ανεξαρτησία. Θετική τιμή: συχνότερη συνεμφάνιση από την αναμενόμενη.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A91ECF-BECB-4B24-BC3D-9314FB5F514E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37612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0FC60F-2A0E-4B39-814F-13F1645D6058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Ποσοτική αξιολόγηση της λύσης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4A07EC-4DD5-470C-A6E6-BCF616773204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619DF05-9BFE-4474-B091-F89646630C52}"/>
              </a:ext>
            </a:extLst>
          </p:cNvPr>
          <p:cNvGraphicFramePr/>
          <p:nvPr/>
        </p:nvGraphicFramePr>
        <p:xfrm>
          <a:off x="666750" y="1352550"/>
          <a:ext cx="10763250" cy="1762125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Μέθοδος</a:t>
                      </a:r>
                    </a:p>
                  </a:txBody>
                  <a:tcPr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Σημασιολογική συνοχή</a:t>
                      </a:r>
                    </a:p>
                  </a:txBody>
                  <a:tcPr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NPMI</a:t>
                      </a:r>
                    </a:p>
                  </a:txBody>
                  <a:tcPr>
                    <a:solidFill>
                      <a:srgbClr val="14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Προτεινόμενη ροή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0,8111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0,2067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k-means, k = 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0,7999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Ward, k = 107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0,8005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0,1945</a:t>
                      </a:r>
                    </a:p>
                  </a:txBody>
                  <a:tcPr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8AC5A16-0AE2-4534-AB13-C981683507DE}"/>
              </a:ext>
            </a:extLst>
          </p:cNvPr>
          <p:cNvSpPr>
            <a:spLocks noGrp="1"/>
          </p:cNvSpPr>
          <p:nvPr/>
        </p:nvSpPr>
        <p:spPr>
          <a:xfrm>
            <a:off x="666750" y="617220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HDBSCAN: 85,3% ανάθεση. k-means και Ward: 100% ανάθεση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CF4C4548-43E8-4E27-BB97-DF2F2C814606}"/>
              </a:ext>
            </a:extLst>
          </p:cNvPr>
          <p:cNvGraphicFramePr/>
          <p:nvPr/>
        </p:nvGraphicFramePr>
        <p:xfrm>
          <a:off x="619125" y="3381375"/>
          <a:ext cx="523875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">
            <a:extLst>
              <a:ext uri="{FF2B5EF4-FFF2-40B4-BE49-F238E27FC236}">
                <a16:creationId xmlns:a16="http://schemas.microsoft.com/office/drawing/2014/main" id="{90DF4F3E-E252-48F7-9951-8ACEBB98247E}"/>
              </a:ext>
            </a:extLst>
          </p:cNvPr>
          <p:cNvGraphicFramePr/>
          <p:nvPr/>
        </p:nvGraphicFramePr>
        <p:xfrm>
          <a:off x="6334125" y="3381375"/>
          <a:ext cx="523875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78800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C8AAB8-0213-45C3-895A-2511CF5A968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Ευαισθησία υπερπαραμέτρων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45ADEA-7A82-4EEB-B791-B2B052DE4BF7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BBE7CE0-F3D0-4E28-B794-F59D36667AE9}"/>
              </a:ext>
            </a:extLst>
          </p:cNvPr>
          <p:cNvGraphicFramePr/>
          <p:nvPr/>
        </p:nvGraphicFramePr>
        <p:xfrm>
          <a:off x="619125" y="1352550"/>
          <a:ext cx="10953750" cy="3810000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Διαταραχή</a:t>
                      </a:r>
                    </a:p>
                  </a:txBody>
                  <a:tcPr marL="952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Συστάδες</a:t>
                      </a:r>
                    </a:p>
                  </a:txBody>
                  <a:tcPr marL="952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Θόρυβος</a:t>
                      </a:r>
                    </a:p>
                  </a:txBody>
                  <a:tcPr marL="952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Συνοχή</a:t>
                      </a:r>
                    </a:p>
                  </a:txBody>
                  <a:tcPr marL="95250" marR="95250" marT="47625" marB="47625" anchor="ctr">
                    <a:solidFill>
                      <a:srgbClr val="14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Βάση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116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15,5%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0,8126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n_neighbors −20% (11→9)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132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19,3%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0,8163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n_neighbors +20% (11→13)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123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17,3%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0,8148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n_components −20% (13→10)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129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17,4%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0,8152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n_components +20% (13→16)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128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18,5%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0,8169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min_cluster_size −20% (32→26)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154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18,4%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0,8189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min_cluster_size +20% (32→38)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18,0%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0,8102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min_samples −20% (4→3)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128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19,3%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0,8159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min_samples +20% (4→5)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118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17,2%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B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0,8150</a:t>
                      </a:r>
                    </a:p>
                  </a:txBody>
                  <a:tcPr marL="95250" marR="95250" marT="47625" marB="47625" anchor="ctr">
                    <a:solidFill>
                      <a:srgbClr val="EE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E0EC565-C441-406A-BCD9-2AE45742F269}"/>
              </a:ext>
            </a:extLst>
          </p:cNvPr>
          <p:cNvSpPr>
            <a:spLocks noGrp="1"/>
          </p:cNvSpPr>
          <p:nvPr/>
        </p:nvSpPr>
        <p:spPr>
          <a:xfrm>
            <a:off x="619125" y="5314950"/>
            <a:ext cx="10763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7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Μικρή μεταβολή συνοχής, μεγαλύτερη μεταβολή πλήθους συστάδων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02F390-596B-4487-B6B6-F0ACD0415E82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Έλεγχος πριν από τη μετεπεξεργασία. Σταθερά min_dist και seed</a:t>
            </a:r>
          </a:p>
        </p:txBody>
      </p:sp>
    </p:spTree>
    <p:extLst>
      <p:ext uri="{BB962C8B-B14F-4D97-AF65-F5344CB8AC3E}">
        <p14:creationId xmlns:p14="http://schemas.microsoft.com/office/powerpoint/2010/main" val="275315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65F49D-C129-4943-A754-D3F66A2112FA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COVID: η αιχμή του Μαρτίου 2020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9038BD-34D4-40B3-B5CD-AF50CAA449E0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84E15F-C147-4EAC-AE0C-4A7801E4A1A3}"/>
              </a:ext>
            </a:extLst>
          </p:cNvPr>
          <p:cNvSpPr>
            <a:spLocks noGrp="1"/>
          </p:cNvSpPr>
          <p:nvPr/>
        </p:nvSpPr>
        <p:spPr>
          <a:xfrm>
            <a:off x="571500" y="52863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67 μηνύματα τον Μάρτιο 2020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72FAF1-8DCF-4E77-B69D-4E77FE9310F4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Συστάδες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 COVID-19: 190 </a:t>
            </a: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μηνύμ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ατα το 2020.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166BBD6-995E-4C37-8A0C-E304874ED2C0}"/>
              </a:ext>
            </a:extLst>
          </p:cNvPr>
          <p:cNvGraphicFramePr/>
          <p:nvPr/>
        </p:nvGraphicFramePr>
        <p:xfrm>
          <a:off x="666750" y="1571625"/>
          <a:ext cx="10668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lusterAnnotation_17">
            <a:extLst>
              <a:ext uri="{FF2B5EF4-FFF2-40B4-BE49-F238E27FC236}">
                <a16:creationId xmlns:a16="http://schemas.microsoft.com/office/drawing/2014/main" id="{2F890567-6F8E-4FD2-BD6A-705FD329BE5A}"/>
              </a:ext>
            </a:extLst>
          </p:cNvPr>
          <p:cNvSpPr>
            <a:spLocks noGrp="1"/>
          </p:cNvSpPr>
          <p:nvPr/>
        </p:nvSpPr>
        <p:spPr>
          <a:xfrm>
            <a:off x="5953125" y="1952625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2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22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Συστάδες 3, 9, 14, 68, 93</a:t>
            </a:r>
          </a:p>
        </p:txBody>
      </p:sp>
    </p:spTree>
    <p:extLst>
      <p:ext uri="{BB962C8B-B14F-4D97-AF65-F5344CB8AC3E}">
        <p14:creationId xmlns:p14="http://schemas.microsoft.com/office/powerpoint/2010/main" val="1226867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F83402-E577-4F6C-AEDF-06899AC80AE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Εκλογές: θεσμικοί κύκλοι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848725-D9F1-4941-AF3A-1BEBC329FDEA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07DE35-72DA-4898-B72F-8743F95F78AA}"/>
              </a:ext>
            </a:extLst>
          </p:cNvPr>
          <p:cNvSpPr>
            <a:spLocks noGrp="1"/>
          </p:cNvSpPr>
          <p:nvPr/>
        </p:nvSpPr>
        <p:spPr>
          <a:xfrm>
            <a:off x="571500" y="52863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Ιούλιος 2020: 124 μηνύματα στην εκλογική θεματική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0B9627-004B-4FA5-9BB9-58F60537239A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Κύρι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α θεματική Elections &amp; Governance.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DF934D4-6708-4C55-9A17-7D7A52B34BE1}"/>
              </a:ext>
            </a:extLst>
          </p:cNvPr>
          <p:cNvGraphicFramePr/>
          <p:nvPr/>
        </p:nvGraphicFramePr>
        <p:xfrm>
          <a:off x="666750" y="1571625"/>
          <a:ext cx="10668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lusterAnnotation_18">
            <a:extLst>
              <a:ext uri="{FF2B5EF4-FFF2-40B4-BE49-F238E27FC236}">
                <a16:creationId xmlns:a16="http://schemas.microsoft.com/office/drawing/2014/main" id="{2127C6E2-08A3-439E-A52A-F25E8869B672}"/>
              </a:ext>
            </a:extLst>
          </p:cNvPr>
          <p:cNvSpPr>
            <a:spLocks noGrp="1"/>
          </p:cNvSpPr>
          <p:nvPr/>
        </p:nvSpPr>
        <p:spPr>
          <a:xfrm>
            <a:off x="7096125" y="1714500"/>
            <a:ext cx="3810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025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2025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Συστάδες 31, 38, 44, 47,</a:t>
            </a:r>
          </a:p>
          <a:p>
            <a:pPr algn="ctr">
              <a:defRPr sz="2025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50, 54, 55, 99</a:t>
            </a:r>
          </a:p>
        </p:txBody>
      </p:sp>
    </p:spTree>
    <p:extLst>
      <p:ext uri="{BB962C8B-B14F-4D97-AF65-F5344CB8AC3E}">
        <p14:creationId xmlns:p14="http://schemas.microsoft.com/office/powerpoint/2010/main" val="2118602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C8AFA3-8C3B-4B83-917B-950EAC79D2D9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Ευχές: επαναλαμβανόμενη κορυφή τον Δεκέμβριο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D941D2-C899-429F-A5E7-B7CE7BCA671A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064339-C490-408B-90F3-2BDCE8A419C2}"/>
              </a:ext>
            </a:extLst>
          </p:cNvPr>
          <p:cNvSpPr>
            <a:spLocks noGrp="1"/>
          </p:cNvSpPr>
          <p:nvPr/>
        </p:nvSpPr>
        <p:spPr>
          <a:xfrm>
            <a:off x="571500" y="52863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Δεκέμβριος: ετήσια κορυφή σε όλα τα πλήρη έτη 2018–2022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C0331-8CF2-45F7-975F-96C109F618B6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Ειδική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θεμ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ατική της Campus Life, 125 μηνύματα. 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33972DE5-CE1F-44FB-8DD5-2D6AC20923F8}"/>
              </a:ext>
            </a:extLst>
          </p:cNvPr>
          <p:cNvGraphicFramePr/>
          <p:nvPr/>
        </p:nvGraphicFramePr>
        <p:xfrm>
          <a:off x="666750" y="1571625"/>
          <a:ext cx="10668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lusterAnnotation_19">
            <a:extLst>
              <a:ext uri="{FF2B5EF4-FFF2-40B4-BE49-F238E27FC236}">
                <a16:creationId xmlns:a16="http://schemas.microsoft.com/office/drawing/2014/main" id="{FD37C35D-6774-4D27-BA8A-39DA549381FA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25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Συστάδα 66</a:t>
            </a:r>
          </a:p>
        </p:txBody>
      </p:sp>
    </p:spTree>
    <p:extLst>
      <p:ext uri="{BB962C8B-B14F-4D97-AF65-F5344CB8AC3E}">
        <p14:creationId xmlns:p14="http://schemas.microsoft.com/office/powerpoint/2010/main" val="1503625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5EAE7D-0444-40C2-98FD-82020BB988B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Αναδιάρθρωση και ΤΕΙ: συγκέντρωση το 2019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F808D7-2A14-4E37-9DA7-E72FC2C47ADA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434412-48B5-4294-B452-ECD6E8B16548}"/>
              </a:ext>
            </a:extLst>
          </p:cNvPr>
          <p:cNvSpPr>
            <a:spLocks noGrp="1"/>
          </p:cNvSpPr>
          <p:nvPr/>
        </p:nvSpPr>
        <p:spPr>
          <a:xfrm>
            <a:off x="571500" y="52863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187 από τα 254 μηνύματα εμφανίζονται το 2019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136B-A347-42DB-A58B-EE21338E9995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Μάρτιος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 2019: 76 </a:t>
            </a: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μηνύμ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ατα. </a:t>
            </a: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Ειδική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θεμ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ατική της University Administration. 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5E85E449-5BFA-4077-87F7-B77D0CB9A2BA}"/>
              </a:ext>
            </a:extLst>
          </p:cNvPr>
          <p:cNvGraphicFramePr/>
          <p:nvPr/>
        </p:nvGraphicFramePr>
        <p:xfrm>
          <a:off x="666750" y="1571625"/>
          <a:ext cx="10668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lusterAnnotation_20">
            <a:extLst>
              <a:ext uri="{FF2B5EF4-FFF2-40B4-BE49-F238E27FC236}">
                <a16:creationId xmlns:a16="http://schemas.microsoft.com/office/drawing/2014/main" id="{E0528B7C-C16D-40DF-846D-85455AE794A9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4572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25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Συστάδα 100</a:t>
            </a:r>
          </a:p>
        </p:txBody>
      </p:sp>
    </p:spTree>
    <p:extLst>
      <p:ext uri="{BB962C8B-B14F-4D97-AF65-F5344CB8AC3E}">
        <p14:creationId xmlns:p14="http://schemas.microsoft.com/office/powerpoint/2010/main" val="1241849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B54095-32D4-458D-A2F6-1FFB5A571F2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Ακαδημαϊκή επικοινωνία μέσα στο έτος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88F421-3A2F-42E2-B989-E990A0A5AA37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graphicFrame>
        <p:nvGraphicFramePr>
          <p:cNvPr id="10" name="Chart">
            <a:extLst>
              <a:ext uri="{FF2B5EF4-FFF2-40B4-BE49-F238E27FC236}">
                <a16:creationId xmlns:a16="http://schemas.microsoft.com/office/drawing/2014/main" id="{2CEC7A20-0FD5-4F77-A765-AD71BC7CEB97}"/>
              </a:ext>
            </a:extLst>
          </p:cNvPr>
          <p:cNvGraphicFramePr/>
          <p:nvPr/>
        </p:nvGraphicFramePr>
        <p:xfrm>
          <a:off x="666750" y="1571625"/>
          <a:ext cx="10668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E0C32C6-D73B-421F-96C9-07BD0F63AC8D}"/>
              </a:ext>
            </a:extLst>
          </p:cNvPr>
          <p:cNvSpPr>
            <a:spLocks noGrp="1"/>
          </p:cNvSpPr>
          <p:nvPr/>
        </p:nvSpPr>
        <p:spPr>
          <a:xfrm>
            <a:off x="571500" y="52863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Φεβρουάριος 32,7% και Ιούνιος 30,2%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6F4C6C-A54E-422E-A02C-3084B6C8DF0F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Μερίδιο στη συνολική κίνηση ανά ημερολογιακό μήνα. Συνάθροιση πλήρων ετών 2018–2022</a:t>
            </a:r>
          </a:p>
        </p:txBody>
      </p:sp>
      <p:sp>
        <p:nvSpPr>
          <p:cNvPr id="11" name="ClusterAnnotation_21">
            <a:extLst>
              <a:ext uri="{FF2B5EF4-FFF2-40B4-BE49-F238E27FC236}">
                <a16:creationId xmlns:a16="http://schemas.microsoft.com/office/drawing/2014/main" id="{B756EA3B-ADB0-4F10-B39F-758C667AE89C}"/>
              </a:ext>
            </a:extLst>
          </p:cNvPr>
          <p:cNvSpPr>
            <a:spLocks noGrp="1"/>
          </p:cNvSpPr>
          <p:nvPr/>
        </p:nvSpPr>
        <p:spPr>
          <a:xfrm>
            <a:off x="2238375" y="1333500"/>
            <a:ext cx="8858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50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50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Συστάδες: 0, 4, 7, 8, 17, 18, 24, 26, 28, 36, 45, 52, 53</a:t>
            </a:r>
          </a:p>
          <a:p>
            <a:pPr algn="ctr">
              <a:defRPr sz="150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60, 61, 62, 74, 75, 81, 82, 87, 88, 91, 92, 96</a:t>
            </a:r>
          </a:p>
        </p:txBody>
      </p:sp>
    </p:spTree>
    <p:extLst>
      <p:ext uri="{BB962C8B-B14F-4D97-AF65-F5344CB8AC3E}">
        <p14:creationId xmlns:p14="http://schemas.microsoft.com/office/powerpoint/2010/main" val="1701084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ACC441F-84A2-4976-A514-C4FD78476F4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Μεταπτυχιακά: προσκλήσεις γύρω από το καλοκαίρι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D5A76-E015-4FBF-98A2-C1A25FA5F923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780180-98A7-4432-857C-F4DD060E5605}"/>
              </a:ext>
            </a:extLst>
          </p:cNvPr>
          <p:cNvSpPr>
            <a:spLocks noGrp="1"/>
          </p:cNvSpPr>
          <p:nvPr/>
        </p:nvSpPr>
        <p:spPr>
          <a:xfrm>
            <a:off x="571500" y="52863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Θερινή συγκέντρωση με μεταβολές στον μήνα κορύφωσης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05E838-C992-4F3F-951D-620C4EF65E42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324 </a:t>
            </a: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μηνύμ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ατα. </a:t>
            </a: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Μέγιστο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: </a:t>
            </a: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Ιούλιος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 2018, 33 </a:t>
            </a:r>
            <a:r>
              <a:rPr sz="1275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μηνύμ</a:t>
            </a:r>
            <a:r>
              <a:rPr sz="1275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ατα. 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E0A9459C-286A-4432-B29D-1F95196A3B1B}"/>
              </a:ext>
            </a:extLst>
          </p:cNvPr>
          <p:cNvGraphicFramePr/>
          <p:nvPr/>
        </p:nvGraphicFramePr>
        <p:xfrm>
          <a:off x="666750" y="1571625"/>
          <a:ext cx="10668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lusterAnnotation_22">
            <a:extLst>
              <a:ext uri="{FF2B5EF4-FFF2-40B4-BE49-F238E27FC236}">
                <a16:creationId xmlns:a16="http://schemas.microsoft.com/office/drawing/2014/main" id="{EC6A91D0-EB02-4450-9285-FFC80151DDB1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4667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25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25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Συστάδα 40</a:t>
            </a:r>
          </a:p>
        </p:txBody>
      </p:sp>
    </p:spTree>
    <p:extLst>
      <p:ext uri="{BB962C8B-B14F-4D97-AF65-F5344CB8AC3E}">
        <p14:creationId xmlns:p14="http://schemas.microsoft.com/office/powerpoint/2010/main" val="1940740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F1FF7C-9C78-4A20-802C-FF0CAD3FB1A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Χρονικά μοτίβα στην ίδια κλίμακα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43E5C0CE-3B9A-49D2-AADF-DE13C271F342}"/>
              </a:ext>
            </a:extLst>
          </p:cNvPr>
          <p:cNvGraphicFramePr/>
          <p:nvPr/>
        </p:nvGraphicFramePr>
        <p:xfrm>
          <a:off x="571500" y="1476375"/>
          <a:ext cx="1104900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C78D2A8-8FE7-4EC9-8F79-45D17DC226DC}"/>
              </a:ext>
            </a:extLst>
          </p:cNvPr>
          <p:cNvSpPr>
            <a:spLocks noGrp="1"/>
          </p:cNvSpPr>
          <p:nvPr/>
        </p:nvSpPr>
        <p:spPr>
          <a:xfrm>
            <a:off x="666750" y="595312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Κοινός</a:t>
            </a:r>
            <a:r>
              <a:rPr sz="1500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άξον</a:t>
            </a:r>
            <a:r>
              <a:rPr sz="1500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ας πλήθους μηνυμάτων. 2018–2022: π</a:t>
            </a:r>
            <a:r>
              <a:rPr sz="1500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λήρη</a:t>
            </a:r>
            <a:r>
              <a:rPr sz="1500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0" dirty="0" err="1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έτη</a:t>
            </a:r>
            <a:r>
              <a:rPr sz="1500" b="0" dirty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11D0B1-9BAC-413D-867E-8F362DC90E74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6" name="ClusterAnnotation_23">
            <a:extLst>
              <a:ext uri="{FF2B5EF4-FFF2-40B4-BE49-F238E27FC236}">
                <a16:creationId xmlns:a16="http://schemas.microsoft.com/office/drawing/2014/main" id="{0FD1A487-B6DD-482F-807D-E2521DFED4E7}"/>
              </a:ext>
            </a:extLst>
          </p:cNvPr>
          <p:cNvSpPr>
            <a:spLocks noGrp="1"/>
          </p:cNvSpPr>
          <p:nvPr/>
        </p:nvSpPr>
        <p:spPr>
          <a:xfrm>
            <a:off x="6715125" y="1600200"/>
            <a:ext cx="46196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3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3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Ακαδημαϊκά: 25 συστάδες (διαφάνεια 22)</a:t>
            </a:r>
          </a:p>
          <a:p>
            <a:pPr algn="ctr">
              <a:defRPr sz="13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Εκλογές: 31, 38, 44, 47, 50, 54, 55, 99</a:t>
            </a:r>
          </a:p>
          <a:p>
            <a:pPr algn="ctr">
              <a:defRPr sz="13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COVID-19: 3, 9, 14, 68, 93</a:t>
            </a:r>
          </a:p>
          <a:p>
            <a:pPr algn="ctr">
              <a:defRPr sz="13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3B4D">
                    <a:alpha val="42000"/>
                  </a:srgbClr>
                </a:solidFill>
                <a:latin typeface="DejaVu Sans"/>
                <a:ea typeface="DejaVu Sans"/>
                <a:cs typeface="DejaVu Sans"/>
              </a:rPr>
              <a:t>Ευχές: 66   ΤΕΙ: 100   Μεταπτυχιακά: 40</a:t>
            </a:r>
          </a:p>
        </p:txBody>
      </p:sp>
    </p:spTree>
    <p:extLst>
      <p:ext uri="{BB962C8B-B14F-4D97-AF65-F5344CB8AC3E}">
        <p14:creationId xmlns:p14="http://schemas.microsoft.com/office/powerpoint/2010/main" val="1430054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852B03-F8C2-4DD5-93F6-42515E39A39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Περιορισμοί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8E8A03-F3DA-4F0F-B9F3-011A0E69CAC1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1C1555-1B5A-4CFC-A8FC-E7461BDBCA0B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5334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Κάλυψη και καθαρισμός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9552DA-A877-4D93-A144-BA3053688FD9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53340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Ένα ιστορικό αρχείο επικοινωνίας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2023: μόνο Ιανουάριος–Ιούλιος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Περικοπή εισόδου στο 3,7% των μηνυμάτων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5923FE-A4AC-4ECA-9557-4C835336AA84}"/>
              </a:ext>
            </a:extLst>
          </p:cNvPr>
          <p:cNvSpPr>
            <a:spLocks noGrp="1"/>
          </p:cNvSpPr>
          <p:nvPr/>
        </p:nvSpPr>
        <p:spPr>
          <a:xfrm>
            <a:off x="6429375" y="1571625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Ανάθεση και ερμηνεία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CF2BA1-BAA8-403B-9397-9B5C279F7D87}"/>
              </a:ext>
            </a:extLst>
          </p:cNvPr>
          <p:cNvSpPr>
            <a:spLocks noGrp="1"/>
          </p:cNvSpPr>
          <p:nvPr/>
        </p:nvSpPr>
        <p:spPr>
          <a:xfrm>
            <a:off x="6429375" y="2095500"/>
            <a:ext cx="5095875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14,7% μη ανατεθειμένα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Μερική ανθρώπινη επιθεώρηση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Μία σαφής ομάδα λόγω υπογραφής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5102F4-10BF-406A-A274-38A1D7A8A9C4}"/>
              </a:ext>
            </a:extLst>
          </p:cNvPr>
          <p:cNvSpPr>
            <a:spLocks noGrp="1"/>
          </p:cNvSpPr>
          <p:nvPr/>
        </p:nvSpPr>
        <p:spPr>
          <a:xfrm>
            <a:off x="666750" y="4257675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Επικύρωση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C49FBC-4715-474F-AC9A-F166DDF4A84D}"/>
              </a:ext>
            </a:extLst>
          </p:cNvPr>
          <p:cNvSpPr>
            <a:spLocks noGrp="1"/>
          </p:cNvSpPr>
          <p:nvPr/>
        </p:nvSpPr>
        <p:spPr>
          <a:xfrm>
            <a:off x="666750" y="4772025"/>
            <a:ext cx="106680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Αξιολόγηση στο ίδιο σώμα, χωρίς εξωτερικό σύνολο ελέγχου</a:t>
            </a:r>
          </a:p>
          <a:p>
            <a:pPr>
              <a:buNone/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Περιγραφικά χρονικά μοτίβα, χωρίς τυπικό έλεγχο εποχικότητας</a:t>
            </a:r>
          </a:p>
          <a:p>
            <a:pPr>
              <a:buNone/>
              <a:def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Ευαισθησία υπερπαραμέτρων με σταθερό seed</a:t>
            </a:r>
          </a:p>
        </p:txBody>
      </p:sp>
    </p:spTree>
    <p:extLst>
      <p:ext uri="{BB962C8B-B14F-4D97-AF65-F5344CB8AC3E}">
        <p14:creationId xmlns:p14="http://schemas.microsoft.com/office/powerpoint/2010/main" val="241085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AFDA251-1FBD-4EE1-BBB5-E78C93D5A6D6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D43"/>
                </a:solidFill>
                <a:latin typeface="DejaVu Sans"/>
                <a:ea typeface="DejaVu Sans"/>
                <a:cs typeface="DejaVu Sans"/>
              </a:rPr>
              <a:t>Μελλοντική αξιοποίηση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AA25F-140D-426E-ADB8-4E3012EA76FA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E719F7-CF0A-4B01-A224-99C16C5F1E6A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106680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07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Πιλοτική υπηρεσία αναζήτησης</a:t>
            </a:r>
          </a:p>
          <a:p>
            <a:pPr>
              <a:buNone/>
              <a:defRPr sz="3075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και θεματικής πλοήγησης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8B2ADB-8F19-443E-B7E1-8C3806BE3549}"/>
              </a:ext>
            </a:extLst>
          </p:cNvPr>
          <p:cNvSpPr>
            <a:spLocks noGrp="1"/>
          </p:cNvSpPr>
          <p:nvPr/>
        </p:nvSpPr>
        <p:spPr>
          <a:xfrm>
            <a:off x="666750" y="3209925"/>
            <a:ext cx="5334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Νέα μηνύματα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FE35AE-6A3A-49C7-BE6F-FA67ED54CECE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53340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Ανάθεση σε γνωστά θέματα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Δυνατότητα επιστροφής «άγνωστο»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Χρονικά παράθυρα για νέα θέματα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A84254-C7EA-4AAF-83F0-91CE51FE13F9}"/>
              </a:ext>
            </a:extLst>
          </p:cNvPr>
          <p:cNvSpPr>
            <a:spLocks noGrp="1"/>
          </p:cNvSpPr>
          <p:nvPr/>
        </p:nvSpPr>
        <p:spPr>
          <a:xfrm>
            <a:off x="6429375" y="3209925"/>
            <a:ext cx="51435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8D"/>
                </a:solidFill>
                <a:latin typeface="DejaVu Sans"/>
                <a:ea typeface="DejaVu Sans"/>
                <a:cs typeface="DejaVu Sans"/>
              </a:rPr>
              <a:t>Εξωτερική αξιολόγηση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606ECA-E410-4DB5-B4F0-98A7CAC39344}"/>
              </a:ext>
            </a:extLst>
          </p:cNvPr>
          <p:cNvSpPr>
            <a:spLocks noGrp="1"/>
          </p:cNvSpPr>
          <p:nvPr/>
        </p:nvSpPr>
        <p:spPr>
          <a:xfrm>
            <a:off x="6429375" y="3733800"/>
            <a:ext cx="51435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Μεταγενέστερα δεδομένα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Ανθρώπινα ελεγμένο δείγμα</a:t>
            </a:r>
          </a:p>
          <a:p>
            <a:pPr>
              <a:buNone/>
              <a:def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B4D"/>
                </a:solidFill>
                <a:latin typeface="DejaVu Sans"/>
                <a:ea typeface="DejaVu Sans"/>
                <a:cs typeface="DejaVu Sans"/>
              </a:rPr>
              <a:t>Έλεγχος νέων και επανεμφανιζόμενων θεμάτων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590126-9E18-4A67-BF7D-1E879798D167}"/>
              </a:ext>
            </a:extLst>
          </p:cNvPr>
          <p:cNvSpPr>
            <a:spLocks noGrp="1"/>
          </p:cNvSpPr>
          <p:nvPr/>
        </p:nvSpPr>
        <p:spPr>
          <a:xfrm>
            <a:off x="571500" y="604837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07482"/>
                </a:solidFill>
                <a:latin typeface="DejaVu Sans"/>
                <a:ea typeface="DejaVu Sans"/>
                <a:cs typeface="DejaVu Sans"/>
              </a:rPr>
              <a:t>Αποθήκευση μοντέλων μετασχηματισμού, ταξινομίας και έκδοσης προεπεξεργασίας</a:t>
            </a:r>
          </a:p>
        </p:txBody>
      </p:sp>
    </p:spTree>
    <p:extLst>
      <p:ext uri="{BB962C8B-B14F-4D97-AF65-F5344CB8AC3E}">
        <p14:creationId xmlns:p14="http://schemas.microsoft.com/office/powerpoint/2010/main" val="155560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DD70DD-1497-43A7-975F-037E3F737B6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Συμπεράσματα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EFAE1-8E00-4496-A04F-3F4640E811BD}"/>
              </a:ext>
            </a:extLst>
          </p:cNvPr>
          <p:cNvSpPr>
            <a:spLocks noGrp="1"/>
          </p:cNvSpPr>
          <p:nvPr/>
        </p:nvSpPr>
        <p:spPr>
          <a:xfrm>
            <a:off x="11334750" y="63341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200" b="0">
                <a:solidFill>
                  <a:srgbClr val="A9BDC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DC8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A368D-8818-442A-BBDF-C36C554F727C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0668000" cy="2143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13.637 μηνύματα</a:t>
            </a:r>
          </a:p>
          <a:p>
            <a:pPr>
              <a:buNone/>
              <a:def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107 συστάδες</a:t>
            </a:r>
          </a:p>
          <a:p>
            <a:pPr>
              <a:buNone/>
              <a:def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16 κύριες θεματικές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FF7CE-5712-48FC-A063-3AD997947B8A}"/>
              </a:ext>
            </a:extLst>
          </p:cNvPr>
          <p:cNvSpPr>
            <a:spLocks noGrp="1"/>
          </p:cNvSpPr>
          <p:nvPr/>
        </p:nvSpPr>
        <p:spPr>
          <a:xfrm>
            <a:off x="666750" y="4133850"/>
            <a:ext cx="106680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2325" b="0">
                <a:solidFill>
                  <a:srgbClr val="C5DEE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C5DEE5"/>
                </a:solidFill>
                <a:latin typeface="DejaVu Sans"/>
                <a:ea typeface="DejaVu Sans"/>
                <a:cs typeface="DejaVu Sans"/>
              </a:rPr>
              <a:t>Αναγνωρίσιμα χρονικά μοτίβα</a:t>
            </a:r>
          </a:p>
          <a:p>
            <a:pPr>
              <a:buNone/>
              <a:defRPr sz="2325" b="0">
                <a:solidFill>
                  <a:srgbClr val="C5DEE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C5DEE5"/>
                </a:solidFill>
                <a:latin typeface="DejaVu Sans"/>
                <a:ea typeface="DejaVu Sans"/>
                <a:cs typeface="DejaVu Sans"/>
              </a:rPr>
              <a:t>χωρίς χρονική πληροφορία στη συσταδοποίηση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F32573-0417-4489-8070-2644C9B4161B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Ερωτήσεις</a:t>
            </a:r>
          </a:p>
        </p:txBody>
      </p:sp>
    </p:spTree>
    <p:extLst>
      <p:ext uri="{BB962C8B-B14F-4D97-AF65-F5344CB8AC3E}">
        <p14:creationId xmlns:p14="http://schemas.microsoft.com/office/powerpoint/2010/main" val="3919708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1385</Words>
  <Application>Microsoft Office PowerPoint</Application>
  <DocSecurity>0</DocSecurity>
  <PresentationFormat>Widescreen</PresentationFormat>
  <Paragraphs>337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Dimitris Perdikouris</cp:lastModifiedBy>
  <cp:revision>12</cp:revision>
  <dcterms:created xsi:type="dcterms:W3CDTF">2026-10-09T10:30:33Z</dcterms:created>
  <dcterms:modified xsi:type="dcterms:W3CDTF">2026-10-12T16:37:06Z</dcterms:modified>
</cp:coreProperties>
</file>